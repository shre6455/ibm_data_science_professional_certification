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handoutMasterIdLst>
    <p:handoutMasterId r:id="rId41"/>
  </p:handoutMasterIdLst>
  <p:sldIdLst>
    <p:sldId id="261" r:id="rId2"/>
    <p:sldId id="257" r:id="rId3"/>
    <p:sldId id="262" r:id="rId4"/>
    <p:sldId id="263" r:id="rId5"/>
    <p:sldId id="264" r:id="rId6"/>
    <p:sldId id="267" r:id="rId7"/>
    <p:sldId id="268" r:id="rId8"/>
    <p:sldId id="271" r:id="rId9"/>
    <p:sldId id="273" r:id="rId10"/>
    <p:sldId id="272" r:id="rId11"/>
    <p:sldId id="283" r:id="rId12"/>
    <p:sldId id="284" r:id="rId13"/>
    <p:sldId id="285" r:id="rId14"/>
    <p:sldId id="286" r:id="rId15"/>
    <p:sldId id="287" r:id="rId16"/>
    <p:sldId id="288" r:id="rId17"/>
    <p:sldId id="279" r:id="rId18"/>
    <p:sldId id="289" r:id="rId19"/>
    <p:sldId id="290" r:id="rId20"/>
    <p:sldId id="291" r:id="rId21"/>
    <p:sldId id="292" r:id="rId22"/>
    <p:sldId id="293" r:id="rId23"/>
    <p:sldId id="294" r:id="rId24"/>
    <p:sldId id="295" r:id="rId25"/>
    <p:sldId id="296" r:id="rId26"/>
    <p:sldId id="297" r:id="rId27"/>
    <p:sldId id="298" r:id="rId28"/>
    <p:sldId id="280" r:id="rId29"/>
    <p:sldId id="299" r:id="rId30"/>
    <p:sldId id="300" r:id="rId31"/>
    <p:sldId id="301" r:id="rId32"/>
    <p:sldId id="281" r:id="rId33"/>
    <p:sldId id="274" r:id="rId34"/>
    <p:sldId id="282" r:id="rId35"/>
    <p:sldId id="275" r:id="rId36"/>
    <p:sldId id="276" r:id="rId37"/>
    <p:sldId id="278" r:id="rId38"/>
    <p:sldId id="277"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34" autoAdjust="0"/>
    <p:restoredTop sz="94706" autoAdjust="0"/>
  </p:normalViewPr>
  <p:slideViewPr>
    <p:cSldViewPr snapToGrid="0">
      <p:cViewPr varScale="1">
        <p:scale>
          <a:sx n="105" d="100"/>
          <a:sy n="105" d="100"/>
        </p:scale>
        <p:origin x="828" y="114"/>
      </p:cViewPr>
      <p:guideLst>
        <p:guide pos="3840"/>
        <p:guide orient="horz" pos="216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2" d="100"/>
          <a:sy n="82" d="100"/>
        </p:scale>
        <p:origin x="3852"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041DB8-B66F-4DC8-A96E-33677E0F90FF}" type="datetimeFigureOut">
              <a:rPr lang="en-US" smtClean="0"/>
              <a:t>6/6/2026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04A0D4-B89B-4ADD-AF9E-38636B40EE4E}" type="slidenum">
              <a:rPr lang="en-US" smtClean="0"/>
              <a:t>‹#›</a:t>
            </a:fld>
            <a:endParaRPr lang="en-US"/>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B49C4A-65AC-492D-9701-81B46C3AD0E4}" type="datetimeFigureOut">
              <a:rPr lang="en-US" smtClean="0"/>
              <a:t>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869989-EB00-4EE7-BCB5-25BDC5BB29F8}" type="slidenum">
              <a:rPr lang="en-US" smtClean="0"/>
              <a:t>‹#›</a:t>
            </a:fld>
            <a:endParaRPr lang="en-US"/>
          </a:p>
        </p:txBody>
      </p:sp>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82869989-EB00-4EE7-BCB5-25BDC5BB29F8}" type="slidenum">
              <a:rPr lang="en-US" smtClean="0"/>
              <a:t>2</a:t>
            </a:fld>
            <a:endParaRPr lang="en-US"/>
          </a:p>
        </p:txBody>
      </p:sp>
    </p:spTree>
    <p:extLst>
      <p:ext uri="{BB962C8B-B14F-4D97-AF65-F5344CB8AC3E}">
        <p14:creationId xmlns:p14="http://schemas.microsoft.com/office/powerpoint/2010/main" val="1980303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5" name="Group 4"/>
          <p:cNvGrpSpPr/>
          <p:nvPr userDrawn="1"/>
        </p:nvGrpSpPr>
        <p:grpSpPr bwMode="hidden">
          <a:xfrm>
            <a:off x="-1" y="0"/>
            <a:ext cx="12192002" cy="6858000"/>
            <a:chOff x="-1" y="0"/>
            <a:chExt cx="12192002" cy="6858000"/>
          </a:xfrm>
        </p:grpSpPr>
        <p:cxnSp>
          <p:nvCxnSpPr>
            <p:cNvPr id="6" name="Straight Connector 5"/>
            <p:cNvCxnSpPr/>
            <p:nvPr/>
          </p:nvCxnSpPr>
          <p:spPr bwMode="hidden">
            <a:xfrm>
              <a:off x="61019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bwMode="hidden">
            <a:xfrm>
              <a:off x="182933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304847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426760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548674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6705884"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7925022"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9144160"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10363298"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1582436" y="0"/>
              <a:ext cx="0"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2819" y="38648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1611181"/>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2835877"/>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4060573"/>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5285269"/>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6509965"/>
              <a:ext cx="12188952" cy="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23" name="Group 22"/>
            <p:cNvGrpSpPr/>
            <p:nvPr userDrawn="1"/>
          </p:nvGrpSpPr>
          <p:grpSpPr bwMode="hidden">
            <a:xfrm>
              <a:off x="-1" y="0"/>
              <a:ext cx="12192001" cy="6858000"/>
              <a:chOff x="-1" y="0"/>
              <a:chExt cx="12192001" cy="6858000"/>
            </a:xfrm>
          </p:grpSpPr>
          <p:cxnSp>
            <p:nvCxnSpPr>
              <p:cNvPr id="41" name="Straight Connector 40"/>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510650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46" name="Group 45"/>
              <p:cNvGrpSpPr/>
              <p:nvPr/>
            </p:nvGrpSpPr>
            <p:grpSpPr bwMode="hidden">
              <a:xfrm>
                <a:off x="6327885" y="0"/>
                <a:ext cx="5864115" cy="5898673"/>
                <a:chOff x="6327885" y="0"/>
                <a:chExt cx="5864115" cy="5898673"/>
              </a:xfrm>
            </p:grpSpPr>
            <p:cxnSp>
              <p:nvCxnSpPr>
                <p:cNvPr id="52" name="Straight Connector 51"/>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47" name="Straight Connector 46"/>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userDrawn="1"/>
          </p:nvGrpSpPr>
          <p:grpSpPr bwMode="hidden">
            <a:xfrm flipH="1">
              <a:off x="0" y="0"/>
              <a:ext cx="12192001" cy="6858000"/>
              <a:chOff x="-1" y="0"/>
              <a:chExt cx="12192001" cy="6858000"/>
            </a:xfrm>
          </p:grpSpPr>
          <p:cxnSp>
            <p:nvCxnSpPr>
              <p:cNvPr id="25" name="Straight Connector 24"/>
              <p:cNvCxnSpPr/>
              <p:nvPr/>
            </p:nvCxnSpPr>
            <p:spPr bwMode="hidden">
              <a:xfrm>
                <a:off x="225425"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bwMode="hidden">
              <a:xfrm>
                <a:off x="144915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2665982"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3885119"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5150644" y="0"/>
                <a:ext cx="6815931" cy="6858000"/>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bwMode="hidden">
              <a:xfrm>
                <a:off x="6327885" y="0"/>
                <a:ext cx="5864115" cy="5898673"/>
                <a:chOff x="6327885" y="0"/>
                <a:chExt cx="5864115" cy="5898673"/>
              </a:xfrm>
            </p:grpSpPr>
            <p:cxnSp>
              <p:nvCxnSpPr>
                <p:cNvPr id="36" name="Straight Connector 35"/>
                <p:cNvCxnSpPr/>
                <p:nvPr/>
              </p:nvCxnSpPr>
              <p:spPr bwMode="hidden">
                <a:xfrm>
                  <a:off x="6327885" y="0"/>
                  <a:ext cx="5864115" cy="5898673"/>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a:off x="7549268" y="0"/>
                  <a:ext cx="4642732" cy="467242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8772997" y="0"/>
                  <a:ext cx="3419003" cy="34567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9982200" y="0"/>
                  <a:ext cx="2209800" cy="222646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11199019" y="0"/>
                  <a:ext cx="992981" cy="1002506"/>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cxnSp>
            <p:nvCxnSpPr>
              <p:cNvPr id="31" name="Straight Connector 30"/>
              <p:cNvCxnSpPr/>
              <p:nvPr/>
            </p:nvCxnSpPr>
            <p:spPr bwMode="hidden">
              <a:xfrm flipH="1" flipV="1">
                <a:off x="-1" y="1012053"/>
                <a:ext cx="5828811" cy="58459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flipH="1" flipV="1">
                <a:off x="-1" y="2227340"/>
                <a:ext cx="4614781" cy="4630658"/>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3432149"/>
                <a:ext cx="3398419" cy="3425849"/>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4651431"/>
                <a:ext cx="2196496" cy="2206567"/>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5864453"/>
                <a:ext cx="987003" cy="993545"/>
              </a:xfrm>
              <a:prstGeom prst="line">
                <a:avLst/>
              </a:prstGeom>
              <a:ln>
                <a:solidFill>
                  <a:schemeClr val="bg1">
                    <a:lumMod val="85000"/>
                    <a:alpha val="3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ctrTitle"/>
          </p:nvPr>
        </p:nvSpPr>
        <p:spPr>
          <a:xfrm>
            <a:off x="1293845" y="1909346"/>
            <a:ext cx="9604310" cy="3383280"/>
          </a:xfrm>
        </p:spPr>
        <p:txBody>
          <a:bodyPr anchor="b">
            <a:normAutofit/>
          </a:bodyPr>
          <a:lstStyle>
            <a:lvl1pPr algn="l">
              <a:lnSpc>
                <a:spcPct val="76000"/>
              </a:lnSpc>
              <a:defRPr sz="8000" cap="none"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93845" y="5432564"/>
            <a:ext cx="9604310" cy="457200"/>
          </a:xfrm>
        </p:spPr>
        <p:txBody>
          <a:bodyPr>
            <a:normAutofit/>
          </a:bodyPr>
          <a:lstStyle>
            <a:lvl1pPr marL="0" indent="0" algn="l">
              <a:spcBef>
                <a:spcPts val="0"/>
              </a:spcBef>
              <a:buNone/>
              <a:defRPr sz="2000" b="0">
                <a:solidFill>
                  <a:schemeClr val="accent1">
                    <a:lumMod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58" name="Straight Connector 57"/>
          <p:cNvCxnSpPr/>
          <p:nvPr userDrawn="1"/>
        </p:nvCxnSpPr>
        <p:spPr>
          <a:xfrm>
            <a:off x="1295400" y="5294175"/>
            <a:ext cx="96012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8862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AE374B5B-21A0-4192-BF4C-38187F1A68D8}" type="datetime1">
              <a:rPr lang="en-US" smtClean="0"/>
              <a:t>6/6/2026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112444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gradFill flip="none" rotWithShape="1">
          <a:gsLst>
            <a:gs pos="0">
              <a:schemeClr val="accent1"/>
            </a:gs>
            <a:gs pos="97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7" name="Group 6"/>
          <p:cNvGrpSpPr/>
          <p:nvPr userDrawn="1"/>
        </p:nvGrpSpPr>
        <p:grpSpPr bwMode="hidden">
          <a:xfrm>
            <a:off x="-1" y="0"/>
            <a:ext cx="12192002" cy="6858000"/>
            <a:chOff x="-1" y="0"/>
            <a:chExt cx="12192002" cy="6858000"/>
          </a:xfrm>
        </p:grpSpPr>
        <p:cxnSp>
          <p:nvCxnSpPr>
            <p:cNvPr id="8" name="Straight Connector 7"/>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userDrawn="1"/>
          </p:nvGrpSpPr>
          <p:grpSpPr bwMode="hidden">
            <a:xfrm>
              <a:off x="-1" y="0"/>
              <a:ext cx="12192001" cy="6858000"/>
              <a:chOff x="-1" y="0"/>
              <a:chExt cx="12192001" cy="6858000"/>
            </a:xfrm>
          </p:grpSpPr>
          <p:cxnSp>
            <p:nvCxnSpPr>
              <p:cNvPr id="42" name="Straight Connector 41"/>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7" name="Group 46"/>
              <p:cNvGrpSpPr/>
              <p:nvPr/>
            </p:nvGrpSpPr>
            <p:grpSpPr bwMode="hidden">
              <a:xfrm>
                <a:off x="6327885" y="0"/>
                <a:ext cx="5864115" cy="5898673"/>
                <a:chOff x="6327885" y="0"/>
                <a:chExt cx="5864115" cy="5898673"/>
              </a:xfrm>
            </p:grpSpPr>
            <p:cxnSp>
              <p:nvCxnSpPr>
                <p:cNvPr id="53" name="Straight Connector 52"/>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8" name="Straight Connector 47"/>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5" name="Group 24"/>
            <p:cNvGrpSpPr/>
            <p:nvPr userDrawn="1"/>
          </p:nvGrpSpPr>
          <p:grpSpPr bwMode="hidden">
            <a:xfrm flipH="1">
              <a:off x="0" y="0"/>
              <a:ext cx="12192001" cy="6858000"/>
              <a:chOff x="-1" y="0"/>
              <a:chExt cx="12192001" cy="6858000"/>
            </a:xfrm>
          </p:grpSpPr>
          <p:cxnSp>
            <p:nvCxnSpPr>
              <p:cNvPr id="26" name="Straight Connector 25"/>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bwMode="hidden">
              <a:xfrm>
                <a:off x="6327885" y="0"/>
                <a:ext cx="5864115" cy="5898673"/>
                <a:chOff x="6327885" y="0"/>
                <a:chExt cx="5864115" cy="5898673"/>
              </a:xfrm>
            </p:grpSpPr>
            <p:cxnSp>
              <p:nvCxnSpPr>
                <p:cNvPr id="37" name="Straight Connector 36"/>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295400" y="2541573"/>
            <a:ext cx="9601200" cy="2743200"/>
          </a:xfrm>
        </p:spPr>
        <p:txBody>
          <a:bodyPr anchor="b">
            <a:normAutofit/>
          </a:bodyPr>
          <a:lstStyle>
            <a:lvl1pPr>
              <a:lnSpc>
                <a:spcPct val="85000"/>
              </a:lnSpc>
              <a:defRPr sz="6000" cap="none"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1295400" y="5431536"/>
            <a:ext cx="9601200" cy="457200"/>
          </a:xfrm>
        </p:spPr>
        <p:txBody>
          <a:bodyPr>
            <a:normAutofit/>
          </a:bodyPr>
          <a:lstStyle>
            <a:lvl1pPr marL="0" indent="0">
              <a:spcBef>
                <a:spcPts val="0"/>
              </a:spcBef>
              <a:buNone/>
              <a:defRPr sz="2000" b="0">
                <a:solidFill>
                  <a:schemeClr val="tx1"/>
                </a:solidFill>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cxnSp>
        <p:nvCxnSpPr>
          <p:cNvPr id="58" name="Straight Connector 57"/>
          <p:cNvCxnSpPr/>
          <p:nvPr userDrawn="1"/>
        </p:nvCxnSpPr>
        <p:spPr>
          <a:xfrm>
            <a:off x="1295400" y="5294175"/>
            <a:ext cx="96012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7780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54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24600" y="1981199"/>
            <a:ext cx="4572000" cy="3810001"/>
          </a:xfrm>
        </p:spPr>
        <p:txBody>
          <a:bodyPr>
            <a:normAutofit/>
          </a:bodyPr>
          <a:lstStyle>
            <a:lvl1pPr>
              <a:defRPr sz="2000"/>
            </a:lvl1pPr>
            <a:lvl2pPr>
              <a:defRPr sz="1800"/>
            </a:lvl2pPr>
            <a:lvl3pPr>
              <a:defRPr sz="1600"/>
            </a:lvl3pPr>
            <a:lvl4pPr>
              <a:defRPr sz="1400"/>
            </a:lvl4pPr>
            <a:lvl5pPr>
              <a:defRPr sz="14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3B5CF7C-B333-48E1-A4A6-83A3C8B73AC0}" type="datetime1">
              <a:rPr lang="en-US" smtClean="0"/>
              <a:t>6/6/2026</a:t>
            </a:fld>
            <a:endParaRPr lang="en-US"/>
          </a:p>
        </p:txBody>
      </p:sp>
      <p:sp>
        <p:nvSpPr>
          <p:cNvPr id="7" name="Slide Number Placeholder 6"/>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4044567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954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24600" y="1818322"/>
            <a:ext cx="4572000" cy="641350"/>
          </a:xfrm>
        </p:spPr>
        <p:txBody>
          <a:bodyPr anchor="ctr">
            <a:normAutofit/>
          </a:bodyPr>
          <a:lstStyle>
            <a:lvl1pPr marL="0" indent="0">
              <a:spcBef>
                <a:spcPts val="0"/>
              </a:spcBef>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4600" y="2503713"/>
            <a:ext cx="4572000" cy="3287487"/>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AE320762-5CBF-4210-AB54-376B091119F8}" type="datetime1">
              <a:rPr lang="en-US" smtClean="0"/>
              <a:t>6/6/2026</a:t>
            </a:fld>
            <a:endParaRPr lang="en-US"/>
          </a:p>
        </p:txBody>
      </p:sp>
      <p:sp>
        <p:nvSpPr>
          <p:cNvPr id="9" name="Slide Number Placeholder 8"/>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39790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7F0DB371-BF5F-4058-A212-1A908E4D2674}" type="datetime1">
              <a:rPr lang="en-US" smtClean="0"/>
              <a:t>6/6/2026</a:t>
            </a:fld>
            <a:endParaRPr lang="en-US"/>
          </a:p>
        </p:txBody>
      </p:sp>
      <p:sp>
        <p:nvSpPr>
          <p:cNvPr id="5" name="Slide Number Placeholder 4"/>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3238976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grpSp>
        <p:nvGrpSpPr>
          <p:cNvPr id="161" name="Group 160"/>
          <p:cNvGrpSpPr/>
          <p:nvPr userDrawn="1"/>
        </p:nvGrpSpPr>
        <p:grpSpPr bwMode="hidden">
          <a:xfrm>
            <a:off x="-1" y="0"/>
            <a:ext cx="12192002" cy="6858000"/>
            <a:chOff x="-1" y="0"/>
            <a:chExt cx="12192002" cy="6858000"/>
          </a:xfrm>
        </p:grpSpPr>
        <p:cxnSp>
          <p:nvCxnSpPr>
            <p:cNvPr id="162" name="Straight Connector 161"/>
            <p:cNvCxnSpPr/>
            <p:nvPr/>
          </p:nvCxnSpPr>
          <p:spPr bwMode="hidden">
            <a:xfrm>
              <a:off x="61019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bwMode="hidden">
            <a:xfrm>
              <a:off x="182933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bwMode="hidden">
            <a:xfrm>
              <a:off x="304847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bwMode="hidden">
            <a:xfrm>
              <a:off x="426760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bwMode="hidden">
            <a:xfrm>
              <a:off x="548674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bwMode="hidden">
            <a:xfrm>
              <a:off x="6705884"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bwMode="hidden">
            <a:xfrm>
              <a:off x="7925022"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bwMode="hidden">
            <a:xfrm>
              <a:off x="9144160"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bwMode="hidden">
            <a:xfrm>
              <a:off x="10363298"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bwMode="hidden">
            <a:xfrm>
              <a:off x="11582436" y="0"/>
              <a:ext cx="0"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bwMode="hidden">
            <a:xfrm>
              <a:off x="2819" y="38648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bwMode="hidden">
            <a:xfrm>
              <a:off x="2819" y="1611181"/>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bwMode="hidden">
            <a:xfrm>
              <a:off x="2819" y="2835877"/>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bwMode="hidden">
            <a:xfrm>
              <a:off x="2819" y="4060573"/>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bwMode="hidden">
            <a:xfrm>
              <a:off x="2819" y="5285269"/>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bwMode="hidden">
            <a:xfrm>
              <a:off x="2819" y="6509965"/>
              <a:ext cx="12188952" cy="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78" name="Group 177"/>
            <p:cNvGrpSpPr/>
            <p:nvPr userDrawn="1"/>
          </p:nvGrpSpPr>
          <p:grpSpPr bwMode="hidden">
            <a:xfrm>
              <a:off x="-1" y="0"/>
              <a:ext cx="12192001" cy="6858000"/>
              <a:chOff x="-1" y="0"/>
              <a:chExt cx="12192001" cy="6858000"/>
            </a:xfrm>
          </p:grpSpPr>
          <p:cxnSp>
            <p:nvCxnSpPr>
              <p:cNvPr id="196" name="Straight Connector 195"/>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8" name="Straight Connector 197"/>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9" name="Straight Connector 198"/>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0" name="Straight Connector 199"/>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201" name="Group 200"/>
              <p:cNvGrpSpPr/>
              <p:nvPr/>
            </p:nvGrpSpPr>
            <p:grpSpPr bwMode="hidden">
              <a:xfrm>
                <a:off x="6327885" y="0"/>
                <a:ext cx="5864115" cy="5898673"/>
                <a:chOff x="6327885" y="0"/>
                <a:chExt cx="5864115" cy="5898673"/>
              </a:xfrm>
            </p:grpSpPr>
            <p:cxnSp>
              <p:nvCxnSpPr>
                <p:cNvPr id="207" name="Straight Connector 206"/>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8" name="Straight Connector 207"/>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9" name="Straight Connector 208"/>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0" name="Straight Connector 209"/>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11" name="Straight Connector 210"/>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202" name="Straight Connector 201"/>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3" name="Straight Connector 202"/>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5" name="Straight Connector 204"/>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206" name="Straight Connector 205"/>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nvGrpSpPr>
            <p:cNvPr id="179" name="Group 178"/>
            <p:cNvGrpSpPr/>
            <p:nvPr userDrawn="1"/>
          </p:nvGrpSpPr>
          <p:grpSpPr bwMode="hidden">
            <a:xfrm flipH="1">
              <a:off x="0" y="0"/>
              <a:ext cx="12192001" cy="6858000"/>
              <a:chOff x="-1" y="0"/>
              <a:chExt cx="12192001" cy="6858000"/>
            </a:xfrm>
          </p:grpSpPr>
          <p:cxnSp>
            <p:nvCxnSpPr>
              <p:cNvPr id="180" name="Straight Connector 179"/>
              <p:cNvCxnSpPr/>
              <p:nvPr/>
            </p:nvCxnSpPr>
            <p:spPr bwMode="hidden">
              <a:xfrm>
                <a:off x="225425"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bwMode="hidden">
              <a:xfrm>
                <a:off x="1449154"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bwMode="hidden">
              <a:xfrm>
                <a:off x="266598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bwMode="hidden">
              <a:xfrm>
                <a:off x="3885119"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bwMode="hidden">
              <a:xfrm>
                <a:off x="5106502" y="0"/>
                <a:ext cx="6815931" cy="6858000"/>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nvGrpSpPr>
              <p:cNvPr id="185" name="Group 184"/>
              <p:cNvGrpSpPr/>
              <p:nvPr/>
            </p:nvGrpSpPr>
            <p:grpSpPr bwMode="hidden">
              <a:xfrm>
                <a:off x="6327885" y="0"/>
                <a:ext cx="5864115" cy="5898673"/>
                <a:chOff x="6327885" y="0"/>
                <a:chExt cx="5864115" cy="5898673"/>
              </a:xfrm>
            </p:grpSpPr>
            <p:cxnSp>
              <p:nvCxnSpPr>
                <p:cNvPr id="191" name="Straight Connector 190"/>
                <p:cNvCxnSpPr/>
                <p:nvPr/>
              </p:nvCxnSpPr>
              <p:spPr bwMode="hidden">
                <a:xfrm>
                  <a:off x="6327885" y="0"/>
                  <a:ext cx="5864115" cy="5898673"/>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2" name="Straight Connector 191"/>
                <p:cNvCxnSpPr/>
                <p:nvPr/>
              </p:nvCxnSpPr>
              <p:spPr bwMode="hidden">
                <a:xfrm>
                  <a:off x="7549268" y="0"/>
                  <a:ext cx="4642732" cy="467242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3" name="Straight Connector 192"/>
                <p:cNvCxnSpPr/>
                <p:nvPr/>
              </p:nvCxnSpPr>
              <p:spPr bwMode="hidden">
                <a:xfrm>
                  <a:off x="8772997" y="0"/>
                  <a:ext cx="3419003" cy="34567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4" name="Straight Connector 193"/>
                <p:cNvCxnSpPr/>
                <p:nvPr/>
              </p:nvCxnSpPr>
              <p:spPr bwMode="hidden">
                <a:xfrm>
                  <a:off x="9982200" y="0"/>
                  <a:ext cx="2209800" cy="222646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5" name="Straight Connector 194"/>
                <p:cNvCxnSpPr/>
                <p:nvPr/>
              </p:nvCxnSpPr>
              <p:spPr bwMode="hidden">
                <a:xfrm>
                  <a:off x="11199019" y="0"/>
                  <a:ext cx="992981" cy="1002506"/>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cxnSp>
            <p:nvCxnSpPr>
              <p:cNvPr id="186" name="Straight Connector 185"/>
              <p:cNvCxnSpPr/>
              <p:nvPr/>
            </p:nvCxnSpPr>
            <p:spPr bwMode="hidden">
              <a:xfrm flipH="1" flipV="1">
                <a:off x="-1" y="1012053"/>
                <a:ext cx="5828811" cy="58459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bwMode="hidden">
              <a:xfrm flipH="1" flipV="1">
                <a:off x="-1" y="2227340"/>
                <a:ext cx="4614781" cy="4630658"/>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bwMode="hidden">
              <a:xfrm flipH="1" flipV="1">
                <a:off x="-1" y="3432149"/>
                <a:ext cx="3398419" cy="3425849"/>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bwMode="hidden">
              <a:xfrm flipH="1" flipV="1">
                <a:off x="-1" y="4651431"/>
                <a:ext cx="2196496" cy="2206567"/>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bwMode="hidden">
              <a:xfrm flipH="1" flipV="1">
                <a:off x="-1" y="5864453"/>
                <a:ext cx="987003" cy="993545"/>
              </a:xfrm>
              <a:prstGeom prst="line">
                <a:avLst/>
              </a:prstGeom>
              <a:ln>
                <a:solidFill>
                  <a:schemeClr val="bg1">
                    <a:lumMod val="85000"/>
                    <a:alpha val="30000"/>
                  </a:schemeClr>
                </a:solidFill>
              </a:ln>
            </p:spPr>
            <p:style>
              <a:lnRef idx="1">
                <a:schemeClr val="accent1"/>
              </a:lnRef>
              <a:fillRef idx="0">
                <a:schemeClr val="accent1"/>
              </a:fillRef>
              <a:effectRef idx="0">
                <a:schemeClr val="accent1"/>
              </a:effectRef>
              <a:fontRef idx="minor">
                <a:schemeClr val="tx1"/>
              </a:fontRef>
            </p:style>
          </p:cxnSp>
        </p:grpSp>
      </p:grpSp>
      <p:sp>
        <p:nvSpPr>
          <p:cNvPr id="213" name="Footer Placeholder 212"/>
          <p:cNvSpPr>
            <a:spLocks noGrp="1"/>
          </p:cNvSpPr>
          <p:nvPr>
            <p:ph type="ftr" sz="quarter" idx="11"/>
          </p:nvPr>
        </p:nvSpPr>
        <p:spPr/>
        <p:txBody>
          <a:bodyPr/>
          <a:lstStyle/>
          <a:p>
            <a:r>
              <a:rPr lang="en-US" dirty="0"/>
              <a:t>Add a footer</a:t>
            </a:r>
          </a:p>
        </p:txBody>
      </p:sp>
      <p:sp>
        <p:nvSpPr>
          <p:cNvPr id="212" name="Date Placeholder 211"/>
          <p:cNvSpPr>
            <a:spLocks noGrp="1"/>
          </p:cNvSpPr>
          <p:nvPr>
            <p:ph type="dt" sz="half" idx="10"/>
          </p:nvPr>
        </p:nvSpPr>
        <p:spPr/>
        <p:txBody>
          <a:bodyPr/>
          <a:lstStyle/>
          <a:p>
            <a:fld id="{60A4083B-90AA-48CF-BAD5-00AA24D7F288}" type="datetime1">
              <a:rPr lang="en-US" smtClean="0"/>
              <a:t>6/6/2026</a:t>
            </a:fld>
            <a:endParaRPr lang="en-US"/>
          </a:p>
        </p:txBody>
      </p:sp>
      <p:sp>
        <p:nvSpPr>
          <p:cNvPr id="214" name="Slide Number Placeholder 213"/>
          <p:cNvSpPr>
            <a:spLocks noGrp="1"/>
          </p:cNvSpPr>
          <p:nvPr>
            <p:ph type="sldNum" sz="quarter" idx="12"/>
          </p:nvPr>
        </p:nvSpPr>
        <p:spPr/>
        <p:txBody>
          <a:bodyPr/>
          <a:lstStyle/>
          <a:p>
            <a:fld id="{E31375A4-56A4-47D6-9801-1991572033F7}" type="slidenum">
              <a:rPr lang="en-US" smtClean="0"/>
              <a:pPr/>
              <a:t>‹#›</a:t>
            </a:fld>
            <a:endParaRPr lang="en-US"/>
          </a:p>
        </p:txBody>
      </p:sp>
    </p:spTree>
    <p:extLst>
      <p:ext uri="{BB962C8B-B14F-4D97-AF65-F5344CB8AC3E}">
        <p14:creationId xmlns:p14="http://schemas.microsoft.com/office/powerpoint/2010/main" val="2146817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9" name="Group 8"/>
          <p:cNvGrpSpPr/>
          <p:nvPr userDrawn="1"/>
        </p:nvGrpSpPr>
        <p:grpSpPr bwMode="hidden">
          <a:xfrm>
            <a:off x="-1" y="0"/>
            <a:ext cx="12192002" cy="6858000"/>
            <a:chOff x="-1" y="0"/>
            <a:chExt cx="12192002" cy="6858000"/>
          </a:xfrm>
        </p:grpSpPr>
        <p:cxnSp>
          <p:nvCxnSpPr>
            <p:cNvPr id="10" name="Straight Connector 9"/>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userDrawn="1"/>
          </p:nvGrpSpPr>
          <p:grpSpPr bwMode="hidden">
            <a:xfrm>
              <a:off x="-1" y="0"/>
              <a:ext cx="12192001" cy="6858000"/>
              <a:chOff x="-1" y="0"/>
              <a:chExt cx="12192001" cy="6858000"/>
            </a:xfrm>
          </p:grpSpPr>
          <p:cxnSp>
            <p:nvCxnSpPr>
              <p:cNvPr id="44" name="Straight Connector 43"/>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9" name="Group 48"/>
              <p:cNvGrpSpPr/>
              <p:nvPr/>
            </p:nvGrpSpPr>
            <p:grpSpPr bwMode="hidden">
              <a:xfrm>
                <a:off x="6327885" y="0"/>
                <a:ext cx="5864115" cy="5898673"/>
                <a:chOff x="6327885" y="0"/>
                <a:chExt cx="5864115" cy="5898673"/>
              </a:xfrm>
            </p:grpSpPr>
            <p:cxnSp>
              <p:nvCxnSpPr>
                <p:cNvPr id="55" name="Straight Connector 54"/>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7" name="Group 26"/>
            <p:cNvGrpSpPr/>
            <p:nvPr userDrawn="1"/>
          </p:nvGrpSpPr>
          <p:grpSpPr bwMode="hidden">
            <a:xfrm flipH="1">
              <a:off x="0" y="0"/>
              <a:ext cx="12192001" cy="6858000"/>
              <a:chOff x="-1" y="0"/>
              <a:chExt cx="12192001" cy="6858000"/>
            </a:xfrm>
          </p:grpSpPr>
          <p:cxnSp>
            <p:nvCxnSpPr>
              <p:cNvPr id="28" name="Straight Connector 27"/>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bwMode="hidden">
              <a:xfrm>
                <a:off x="6327885" y="0"/>
                <a:ext cx="5864115" cy="5898673"/>
                <a:chOff x="6327885" y="0"/>
                <a:chExt cx="5864115" cy="5898673"/>
              </a:xfrm>
            </p:grpSpPr>
            <p:cxnSp>
              <p:nvCxnSpPr>
                <p:cNvPr id="39" name="Straight Connector 38"/>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4" name="Straight Connector 33"/>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7" name="Rectangle 6"/>
          <p:cNvSpPr/>
          <p:nvPr userDrawn="1"/>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13152" y="571500"/>
            <a:ext cx="3657600" cy="2197100"/>
          </a:xfrm>
        </p:spPr>
        <p:txBody>
          <a:bodyPr anchor="b">
            <a:normAutofit/>
          </a:bodyPr>
          <a:lstStyle>
            <a:lvl1pPr>
              <a:defRPr sz="2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543197" y="571500"/>
            <a:ext cx="6217920" cy="5715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13152" y="2995012"/>
            <a:ext cx="3657600" cy="2285950"/>
          </a:xfrm>
        </p:spPr>
        <p:txBody>
          <a:bodyPr>
            <a:normAutofit/>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lvl1pPr>
              <a:defRPr>
                <a:solidFill>
                  <a:schemeClr val="bg1"/>
                </a:solidFill>
              </a:defRPr>
            </a:lvl1pPr>
          </a:lstStyle>
          <a:p>
            <a:fld id="{F5BAF629-ECA2-4CF3-B790-9D9BDED98269}" type="datetime1">
              <a:rPr lang="en-US" smtClean="0"/>
              <a:pPr/>
              <a:t>6/6/2026</a:t>
            </a:fld>
            <a:endParaRPr lang="en-US"/>
          </a:p>
        </p:txBody>
      </p:sp>
      <p:sp>
        <p:nvSpPr>
          <p:cNvPr id="8" name="Slide Number Placeholder 7"/>
          <p:cNvSpPr>
            <a:spLocks noGrp="1"/>
          </p:cNvSpPr>
          <p:nvPr>
            <p:ph type="sldNum" sz="quarter" idx="12"/>
          </p:nvPr>
        </p:nvSpPr>
        <p:spPr/>
        <p:txBody>
          <a:bodyPr/>
          <a:lstStyle>
            <a:lvl1pPr>
              <a:defRPr>
                <a:solidFill>
                  <a:schemeClr val="bg1"/>
                </a:solidFill>
              </a:defRPr>
            </a:lvl1pPr>
          </a:lstStyle>
          <a:p>
            <a:fld id="{E31375A4-56A4-47D6-9801-1991572033F7}" type="slidenum">
              <a:rPr lang="en-US" smtClean="0"/>
              <a:pPr/>
              <a:t>‹#›</a:t>
            </a:fld>
            <a:endParaRPr lang="en-US"/>
          </a:p>
        </p:txBody>
      </p:sp>
    </p:spTree>
    <p:extLst>
      <p:ext uri="{BB962C8B-B14F-4D97-AF65-F5344CB8AC3E}">
        <p14:creationId xmlns:p14="http://schemas.microsoft.com/office/powerpoint/2010/main" val="166737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gradFill flip="none" rotWithShape="1">
          <a:gsLst>
            <a:gs pos="0">
              <a:schemeClr val="accent1"/>
            </a:gs>
            <a:gs pos="100000">
              <a:schemeClr val="accent1">
                <a:lumMod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8" name="Group 7"/>
          <p:cNvGrpSpPr/>
          <p:nvPr/>
        </p:nvGrpSpPr>
        <p:grpSpPr bwMode="hidden">
          <a:xfrm>
            <a:off x="-1" y="0"/>
            <a:ext cx="12192002" cy="6858000"/>
            <a:chOff x="-1" y="0"/>
            <a:chExt cx="12192002" cy="6858000"/>
          </a:xfrm>
        </p:grpSpPr>
        <p:cxnSp>
          <p:nvCxnSpPr>
            <p:cNvPr id="9" name="Straight Connector 8"/>
            <p:cNvCxnSpPr/>
            <p:nvPr/>
          </p:nvCxnSpPr>
          <p:spPr bwMode="hidden">
            <a:xfrm>
              <a:off x="61019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bwMode="hidden">
            <a:xfrm>
              <a:off x="182933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bwMode="hidden">
            <a:xfrm>
              <a:off x="304847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bwMode="hidden">
            <a:xfrm>
              <a:off x="426760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bwMode="hidden">
            <a:xfrm>
              <a:off x="548674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bwMode="hidden">
            <a:xfrm>
              <a:off x="6705884"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bwMode="hidden">
            <a:xfrm>
              <a:off x="7925022"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bwMode="hidden">
            <a:xfrm>
              <a:off x="9144160"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bwMode="hidden">
            <a:xfrm>
              <a:off x="10363298"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bwMode="hidden">
            <a:xfrm>
              <a:off x="11582436" y="0"/>
              <a:ext cx="0"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bwMode="hidden">
            <a:xfrm>
              <a:off x="2819" y="38648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bwMode="hidden">
            <a:xfrm>
              <a:off x="2819" y="1611181"/>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bwMode="hidden">
            <a:xfrm>
              <a:off x="2819" y="2835877"/>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bwMode="hidden">
            <a:xfrm>
              <a:off x="2819" y="4060573"/>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bwMode="hidden">
            <a:xfrm>
              <a:off x="2819" y="5285269"/>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bwMode="hidden">
            <a:xfrm>
              <a:off x="2819" y="6509965"/>
              <a:ext cx="12188952" cy="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p:cNvGrpSpPr/>
            <p:nvPr/>
          </p:nvGrpSpPr>
          <p:grpSpPr bwMode="hidden">
            <a:xfrm>
              <a:off x="-1" y="0"/>
              <a:ext cx="12192001" cy="6858000"/>
              <a:chOff x="-1" y="0"/>
              <a:chExt cx="12192001" cy="6858000"/>
            </a:xfrm>
          </p:grpSpPr>
          <p:cxnSp>
            <p:nvCxnSpPr>
              <p:cNvPr id="43" name="Straight Connector 42"/>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bwMode="hidden">
              <a:xfrm>
                <a:off x="510650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48" name="Group 47"/>
              <p:cNvGrpSpPr/>
              <p:nvPr/>
            </p:nvGrpSpPr>
            <p:grpSpPr bwMode="hidden">
              <a:xfrm>
                <a:off x="6327885" y="0"/>
                <a:ext cx="5864115" cy="5898673"/>
                <a:chOff x="6327885" y="0"/>
                <a:chExt cx="5864115" cy="5898673"/>
              </a:xfrm>
            </p:grpSpPr>
            <p:cxnSp>
              <p:nvCxnSpPr>
                <p:cNvPr id="54" name="Straight Connector 53"/>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49" name="Straight Connector 48"/>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bwMode="hidden">
            <a:xfrm flipH="1">
              <a:off x="0" y="0"/>
              <a:ext cx="12192001" cy="6858000"/>
              <a:chOff x="-1" y="0"/>
              <a:chExt cx="12192001" cy="6858000"/>
            </a:xfrm>
          </p:grpSpPr>
          <p:cxnSp>
            <p:nvCxnSpPr>
              <p:cNvPr id="27" name="Straight Connector 26"/>
              <p:cNvCxnSpPr/>
              <p:nvPr/>
            </p:nvCxnSpPr>
            <p:spPr bwMode="hidden">
              <a:xfrm>
                <a:off x="225425"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bwMode="hidden">
              <a:xfrm>
                <a:off x="144915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bwMode="hidden">
              <a:xfrm>
                <a:off x="2665982"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bwMode="hidden">
              <a:xfrm>
                <a:off x="3885119"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bwMode="hidden">
              <a:xfrm>
                <a:off x="5150644" y="0"/>
                <a:ext cx="6815931" cy="6858000"/>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bwMode="hidden">
              <a:xfrm>
                <a:off x="6327885" y="0"/>
                <a:ext cx="5864115" cy="5898673"/>
                <a:chOff x="6327885" y="0"/>
                <a:chExt cx="5864115" cy="5898673"/>
              </a:xfrm>
            </p:grpSpPr>
            <p:cxnSp>
              <p:nvCxnSpPr>
                <p:cNvPr id="38" name="Straight Connector 37"/>
                <p:cNvCxnSpPr/>
                <p:nvPr/>
              </p:nvCxnSpPr>
              <p:spPr bwMode="hidden">
                <a:xfrm>
                  <a:off x="6327885" y="0"/>
                  <a:ext cx="5864115" cy="5898673"/>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bwMode="hidden">
                <a:xfrm>
                  <a:off x="7549268" y="0"/>
                  <a:ext cx="4642732" cy="467242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bwMode="hidden">
                <a:xfrm>
                  <a:off x="8772997" y="0"/>
                  <a:ext cx="3419003" cy="34567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bwMode="hidden">
                <a:xfrm>
                  <a:off x="9982200" y="0"/>
                  <a:ext cx="2209800" cy="222646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bwMode="hidden">
                <a:xfrm>
                  <a:off x="11199019" y="0"/>
                  <a:ext cx="992981" cy="1002506"/>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33" name="Straight Connector 32"/>
              <p:cNvCxnSpPr/>
              <p:nvPr/>
            </p:nvCxnSpPr>
            <p:spPr bwMode="hidden">
              <a:xfrm flipH="1" flipV="1">
                <a:off x="-1" y="1012053"/>
                <a:ext cx="5828811" cy="58459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bwMode="hidden">
              <a:xfrm flipH="1" flipV="1">
                <a:off x="-1" y="2227340"/>
                <a:ext cx="4614781" cy="4630658"/>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bwMode="hidden">
              <a:xfrm flipH="1" flipV="1">
                <a:off x="-1" y="3432149"/>
                <a:ext cx="3398419" cy="3425849"/>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bwMode="hidden">
              <a:xfrm flipH="1" flipV="1">
                <a:off x="-1" y="4651431"/>
                <a:ext cx="2196496" cy="2206567"/>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p:nvPr/>
            </p:nvCxnSpPr>
            <p:spPr bwMode="hidden">
              <a:xfrm flipH="1" flipV="1">
                <a:off x="-1" y="5864453"/>
                <a:ext cx="987003" cy="993545"/>
              </a:xfrm>
              <a:prstGeom prst="line">
                <a:avLst/>
              </a:prstGeom>
              <a:ln>
                <a:solidFill>
                  <a:schemeClr val="accent1">
                    <a:lumMod val="7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60" name="Rectangle 59"/>
          <p:cNvSpPr/>
          <p:nvPr/>
        </p:nvSpPr>
        <p:spPr>
          <a:xfrm>
            <a:off x="0" y="0"/>
            <a:ext cx="7315200" cy="6858000"/>
          </a:xfrm>
          <a:prstGeom prst="rect">
            <a:avLst/>
          </a:prstGeom>
          <a:gradFill>
            <a:gsLst>
              <a:gs pos="69000">
                <a:schemeClr val="bg1"/>
              </a:gs>
              <a:gs pos="0">
                <a:schemeClr val="bg1"/>
              </a:gs>
              <a:gs pos="100000">
                <a:schemeClr val="bg1">
                  <a:lumMod val="95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7909560" y="576072"/>
            <a:ext cx="3657600" cy="2194560"/>
          </a:xfrm>
        </p:spPr>
        <p:txBody>
          <a:bodyPr anchor="b">
            <a:normAutofit/>
          </a:bodyPr>
          <a:lstStyle>
            <a:lvl1pPr>
              <a:defRPr sz="2600">
                <a:solidFill>
                  <a:schemeClr val="bg1"/>
                </a:solidFill>
              </a:defRPr>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4412" y="-159"/>
            <a:ext cx="7315200" cy="6858000"/>
          </a:xfrm>
        </p:spPr>
        <p:txBody>
          <a:bodyPr tIns="4572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09560" y="2999232"/>
            <a:ext cx="3657600" cy="2286000"/>
          </a:xfrm>
        </p:spPr>
        <p:txBody>
          <a:bodyPr/>
          <a:lstStyle>
            <a:lvl1pPr marL="0" indent="0">
              <a:spcBef>
                <a:spcPts val="1200"/>
              </a:spcBef>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620318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84A29A4-78C8-47AB-BA06-22CB45938951}" type="datetime1">
              <a:rPr lang="en-US" smtClean="0"/>
              <a:t>6/6/2026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477154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09314" y="489856"/>
            <a:ext cx="1687286" cy="530134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9" y="489856"/>
            <a:ext cx="7587344" cy="530134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E1ED4ACF-2D82-46F2-A8E9-23963AA34E86}" type="datetime1">
              <a:rPr lang="en-US" smtClean="0"/>
              <a:t>6/6/2026</a:t>
            </a:fld>
            <a:endParaRPr lang="en-US"/>
          </a:p>
        </p:txBody>
      </p:sp>
      <p:sp>
        <p:nvSpPr>
          <p:cNvPr id="6" name="Slide Number Placeholder 5"/>
          <p:cNvSpPr>
            <a:spLocks noGrp="1"/>
          </p:cNvSpPr>
          <p:nvPr>
            <p:ph type="sldNum" sz="quarter" idx="12"/>
          </p:nvPr>
        </p:nvSpPr>
        <p:spPr/>
        <p:txBody>
          <a:bodyPr/>
          <a:lstStyle/>
          <a:p>
            <a:fld id="{E31375A4-56A4-47D6-9801-1991572033F7}" type="slidenum">
              <a:rPr lang="en-US" smtClean="0"/>
              <a:t>‹#›</a:t>
            </a:fld>
            <a:endParaRPr lang="en-US"/>
          </a:p>
        </p:txBody>
      </p:sp>
    </p:spTree>
    <p:extLst>
      <p:ext uri="{BB962C8B-B14F-4D97-AF65-F5344CB8AC3E}">
        <p14:creationId xmlns:p14="http://schemas.microsoft.com/office/powerpoint/2010/main" val="2524635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53000">
              <a:schemeClr val="bg1"/>
            </a:gs>
            <a:gs pos="0">
              <a:schemeClr val="bg1">
                <a:lumMod val="100000"/>
              </a:schemeClr>
            </a:gs>
            <a:gs pos="100000">
              <a:schemeClr val="bg1">
                <a:lumMod val="95000"/>
                <a:alpha val="65000"/>
              </a:schemeClr>
            </a:gs>
          </a:gsLst>
          <a:lin ang="5400000" scaled="1"/>
          <a:tileRect/>
        </a:gradFill>
        <a:effectLst/>
      </p:bgPr>
    </p:bg>
    <p:spTree>
      <p:nvGrpSpPr>
        <p:cNvPr id="1" name=""/>
        <p:cNvGrpSpPr/>
        <p:nvPr/>
      </p:nvGrpSpPr>
      <p:grpSpPr>
        <a:xfrm>
          <a:off x="0" y="0"/>
          <a:ext cx="0" cy="0"/>
          <a:chOff x="0" y="0"/>
          <a:chExt cx="0" cy="0"/>
        </a:xfrm>
      </p:grpSpPr>
      <p:grpSp>
        <p:nvGrpSpPr>
          <p:cNvPr id="96" name="Group 95"/>
          <p:cNvGrpSpPr/>
          <p:nvPr userDrawn="1"/>
        </p:nvGrpSpPr>
        <p:grpSpPr bwMode="hidden">
          <a:xfrm>
            <a:off x="-1" y="-195943"/>
            <a:ext cx="12192002" cy="6858000"/>
            <a:chOff x="-1" y="0"/>
            <a:chExt cx="12192002" cy="6858000"/>
          </a:xfrm>
        </p:grpSpPr>
        <p:cxnSp>
          <p:nvCxnSpPr>
            <p:cNvPr id="97" name="Straight Connector 96"/>
            <p:cNvCxnSpPr/>
            <p:nvPr/>
          </p:nvCxnSpPr>
          <p:spPr bwMode="hidden">
            <a:xfrm>
              <a:off x="61019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bwMode="hidden">
            <a:xfrm>
              <a:off x="182933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bwMode="hidden">
            <a:xfrm>
              <a:off x="304847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bwMode="hidden">
            <a:xfrm>
              <a:off x="426760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bwMode="hidden">
            <a:xfrm>
              <a:off x="548674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p:nvPr/>
          </p:nvCxnSpPr>
          <p:spPr bwMode="hidden">
            <a:xfrm>
              <a:off x="6705884"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bwMode="hidden">
            <a:xfrm>
              <a:off x="7925022"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bwMode="hidden">
            <a:xfrm>
              <a:off x="9144160"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p:nvPr/>
          </p:nvCxnSpPr>
          <p:spPr bwMode="hidden">
            <a:xfrm>
              <a:off x="10363298"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p:nvPr/>
          </p:nvCxnSpPr>
          <p:spPr bwMode="hidden">
            <a:xfrm>
              <a:off x="11582436" y="0"/>
              <a:ext cx="0"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p:nvPr/>
          </p:nvCxnSpPr>
          <p:spPr bwMode="hidden">
            <a:xfrm>
              <a:off x="2819" y="38648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bwMode="hidden">
            <a:xfrm>
              <a:off x="2819" y="1611181"/>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bwMode="hidden">
            <a:xfrm>
              <a:off x="2819" y="2835877"/>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bwMode="hidden">
            <a:xfrm>
              <a:off x="2819" y="4060573"/>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p:nvPr/>
          </p:nvCxnSpPr>
          <p:spPr bwMode="hidden">
            <a:xfrm>
              <a:off x="2819" y="5285269"/>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bwMode="hidden">
            <a:xfrm>
              <a:off x="2819" y="6509965"/>
              <a:ext cx="12188952" cy="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13" name="Group 112"/>
            <p:cNvGrpSpPr/>
            <p:nvPr userDrawn="1"/>
          </p:nvGrpSpPr>
          <p:grpSpPr bwMode="hidden">
            <a:xfrm>
              <a:off x="-1" y="0"/>
              <a:ext cx="12192001" cy="6858000"/>
              <a:chOff x="-1" y="0"/>
              <a:chExt cx="12192001" cy="6858000"/>
            </a:xfrm>
          </p:grpSpPr>
          <p:cxnSp>
            <p:nvCxnSpPr>
              <p:cNvPr id="131" name="Straight Connector 130"/>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36" name="Group 135"/>
              <p:cNvGrpSpPr/>
              <p:nvPr/>
            </p:nvGrpSpPr>
            <p:grpSpPr bwMode="hidden">
              <a:xfrm>
                <a:off x="6327885" y="0"/>
                <a:ext cx="5864115" cy="5898673"/>
                <a:chOff x="6327885" y="0"/>
                <a:chExt cx="5864115" cy="5898673"/>
              </a:xfrm>
            </p:grpSpPr>
            <p:cxnSp>
              <p:nvCxnSpPr>
                <p:cNvPr id="142" name="Straight Connector 141"/>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37" name="Straight Connector 136"/>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nvGrpSpPr>
            <p:cNvPr id="114" name="Group 113"/>
            <p:cNvGrpSpPr/>
            <p:nvPr userDrawn="1"/>
          </p:nvGrpSpPr>
          <p:grpSpPr bwMode="hidden">
            <a:xfrm flipH="1">
              <a:off x="0" y="0"/>
              <a:ext cx="12192001" cy="6858000"/>
              <a:chOff x="-1" y="0"/>
              <a:chExt cx="12192001" cy="6858000"/>
            </a:xfrm>
          </p:grpSpPr>
          <p:cxnSp>
            <p:nvCxnSpPr>
              <p:cNvPr id="115" name="Straight Connector 114"/>
              <p:cNvCxnSpPr/>
              <p:nvPr/>
            </p:nvCxnSpPr>
            <p:spPr bwMode="hidden">
              <a:xfrm>
                <a:off x="225425"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bwMode="hidden">
              <a:xfrm>
                <a:off x="1449154"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bwMode="hidden">
              <a:xfrm>
                <a:off x="266598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bwMode="hidden">
              <a:xfrm>
                <a:off x="3885119"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bwMode="hidden">
              <a:xfrm>
                <a:off x="5106502" y="0"/>
                <a:ext cx="6815931" cy="6858000"/>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nvGrpSpPr>
              <p:cNvPr id="120" name="Group 119"/>
              <p:cNvGrpSpPr/>
              <p:nvPr/>
            </p:nvGrpSpPr>
            <p:grpSpPr bwMode="hidden">
              <a:xfrm>
                <a:off x="6327885" y="0"/>
                <a:ext cx="5864115" cy="5898673"/>
                <a:chOff x="6327885" y="0"/>
                <a:chExt cx="5864115" cy="5898673"/>
              </a:xfrm>
            </p:grpSpPr>
            <p:cxnSp>
              <p:nvCxnSpPr>
                <p:cNvPr id="126" name="Straight Connector 125"/>
                <p:cNvCxnSpPr/>
                <p:nvPr/>
              </p:nvCxnSpPr>
              <p:spPr bwMode="hidden">
                <a:xfrm>
                  <a:off x="6327885" y="0"/>
                  <a:ext cx="5864115" cy="5898673"/>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bwMode="hidden">
                <a:xfrm>
                  <a:off x="7549268" y="0"/>
                  <a:ext cx="4642732" cy="467242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bwMode="hidden">
                <a:xfrm>
                  <a:off x="8772997" y="0"/>
                  <a:ext cx="3419003" cy="34567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bwMode="hidden">
                <a:xfrm>
                  <a:off x="9982200" y="0"/>
                  <a:ext cx="2209800" cy="222646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bwMode="hidden">
                <a:xfrm>
                  <a:off x="11199019" y="0"/>
                  <a:ext cx="992981" cy="1002506"/>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cxnSp>
            <p:nvCxnSpPr>
              <p:cNvPr id="121" name="Straight Connector 120"/>
              <p:cNvCxnSpPr/>
              <p:nvPr/>
            </p:nvCxnSpPr>
            <p:spPr bwMode="hidden">
              <a:xfrm flipH="1" flipV="1">
                <a:off x="-1" y="1012053"/>
                <a:ext cx="5828811" cy="58459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bwMode="hidden">
              <a:xfrm flipH="1" flipV="1">
                <a:off x="-1" y="2227340"/>
                <a:ext cx="4614781" cy="4630658"/>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bwMode="hidden">
              <a:xfrm flipH="1" flipV="1">
                <a:off x="-1" y="3432149"/>
                <a:ext cx="3398419" cy="3425849"/>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bwMode="hidden">
              <a:xfrm flipH="1" flipV="1">
                <a:off x="-1" y="4651431"/>
                <a:ext cx="2196496" cy="2206567"/>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bwMode="hidden">
              <a:xfrm flipH="1" flipV="1">
                <a:off x="-1" y="5864453"/>
                <a:ext cx="987003" cy="993545"/>
              </a:xfrm>
              <a:prstGeom prst="line">
                <a:avLst/>
              </a:prstGeom>
              <a:ln>
                <a:solidFill>
                  <a:schemeClr val="bg1">
                    <a:lumMod val="85000"/>
                    <a:alpha val="25000"/>
                  </a:schemeClr>
                </a:solidFill>
              </a:ln>
            </p:spPr>
            <p:style>
              <a:lnRef idx="1">
                <a:schemeClr val="accent1"/>
              </a:lnRef>
              <a:fillRef idx="0">
                <a:schemeClr val="accent1"/>
              </a:fillRef>
              <a:effectRef idx="0">
                <a:schemeClr val="accent1"/>
              </a:effectRef>
              <a:fontRef idx="minor">
                <a:schemeClr val="tx1"/>
              </a:fontRef>
            </p:style>
          </p:cxnSp>
        </p:grpSp>
      </p:grpSp>
      <p:sp>
        <p:nvSpPr>
          <p:cNvPr id="2" name="Title Placeholder 1"/>
          <p:cNvSpPr>
            <a:spLocks noGrp="1"/>
          </p:cNvSpPr>
          <p:nvPr>
            <p:ph type="title"/>
          </p:nvPr>
        </p:nvSpPr>
        <p:spPr>
          <a:xfrm>
            <a:off x="1295400" y="503853"/>
            <a:ext cx="9601200" cy="114238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95400" y="1981201"/>
            <a:ext cx="9601200" cy="38099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48" name="Straight Connector 147"/>
          <p:cNvCxnSpPr/>
          <p:nvPr userDrawn="1"/>
        </p:nvCxnSpPr>
        <p:spPr>
          <a:xfrm>
            <a:off x="609600" y="6172200"/>
            <a:ext cx="10972800"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p:cNvSpPr>
            <a:spLocks noGrp="1"/>
          </p:cNvSpPr>
          <p:nvPr>
            <p:ph type="ftr" sz="quarter" idx="3"/>
          </p:nvPr>
        </p:nvSpPr>
        <p:spPr>
          <a:xfrm>
            <a:off x="609601" y="6289679"/>
            <a:ext cx="6128030" cy="222436"/>
          </a:xfrm>
          <a:prstGeom prst="rect">
            <a:avLst/>
          </a:prstGeom>
        </p:spPr>
        <p:txBody>
          <a:bodyPr vert="horz" lIns="91440" tIns="45720" rIns="91440" bIns="45720" rtlCol="0" anchor="ctr"/>
          <a:lstStyle>
            <a:lvl1pPr algn="l">
              <a:defRPr sz="1100">
                <a:solidFill>
                  <a:schemeClr val="tx1">
                    <a:lumMod val="90000"/>
                    <a:lumOff val="10000"/>
                  </a:schemeClr>
                </a:solidFill>
              </a:defRPr>
            </a:lvl1pPr>
          </a:lstStyle>
          <a:p>
            <a:r>
              <a:rPr lang="en-US" dirty="0"/>
              <a:t>Add a footer</a:t>
            </a:r>
          </a:p>
        </p:txBody>
      </p:sp>
      <p:sp>
        <p:nvSpPr>
          <p:cNvPr id="4" name="Date Placeholder 3"/>
          <p:cNvSpPr>
            <a:spLocks noGrp="1"/>
          </p:cNvSpPr>
          <p:nvPr>
            <p:ph type="dt" sz="half" idx="2"/>
          </p:nvPr>
        </p:nvSpPr>
        <p:spPr>
          <a:xfrm>
            <a:off x="9294042" y="6289679"/>
            <a:ext cx="965946"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B51B2453-8663-4C69-AF73-9FD7B1DEC5D0}" type="datetime1">
              <a:rPr lang="en-US" smtClean="0"/>
              <a:pPr/>
              <a:t>6/6/2026</a:t>
            </a:fld>
            <a:endParaRPr lang="en-US" dirty="0"/>
          </a:p>
        </p:txBody>
      </p:sp>
      <p:sp>
        <p:nvSpPr>
          <p:cNvPr id="6" name="Slide Number Placeholder 5"/>
          <p:cNvSpPr>
            <a:spLocks noGrp="1"/>
          </p:cNvSpPr>
          <p:nvPr>
            <p:ph type="sldNum" sz="quarter" idx="4"/>
          </p:nvPr>
        </p:nvSpPr>
        <p:spPr>
          <a:xfrm>
            <a:off x="10665311" y="6289679"/>
            <a:ext cx="918882" cy="222436"/>
          </a:xfrm>
          <a:prstGeom prst="rect">
            <a:avLst/>
          </a:prstGeom>
        </p:spPr>
        <p:txBody>
          <a:bodyPr vert="horz" lIns="91440" tIns="45720" rIns="91440" bIns="45720" rtlCol="0" anchor="ctr"/>
          <a:lstStyle>
            <a:lvl1pPr algn="r">
              <a:defRPr sz="1100">
                <a:solidFill>
                  <a:schemeClr val="tx1">
                    <a:lumMod val="90000"/>
                    <a:lumOff val="10000"/>
                  </a:schemeClr>
                </a:solidFill>
              </a:defRPr>
            </a:lvl1pPr>
          </a:lstStyle>
          <a:p>
            <a:fld id="{E31375A4-56A4-47D6-9801-1991572033F7}" type="slidenum">
              <a:rPr lang="en-US" smtClean="0"/>
              <a:pPr/>
              <a:t>‹#›</a:t>
            </a:fld>
            <a:endParaRPr lang="en-US" dirty="0"/>
          </a:p>
        </p:txBody>
      </p:sp>
    </p:spTree>
    <p:extLst>
      <p:ext uri="{BB962C8B-B14F-4D97-AF65-F5344CB8AC3E}">
        <p14:creationId xmlns:p14="http://schemas.microsoft.com/office/powerpoint/2010/main" val="19432598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9"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b="1" kern="1200">
          <a:solidFill>
            <a:schemeClr val="accent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github.com/shre6455/IBM_Data_Science_Professional_Certificat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4.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hyperlink" Target="https://github.com/shre6455/IBM_Data_Science_Professional_Certification" TargetMode="Externa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3845" y="1525298"/>
            <a:ext cx="9604310" cy="1903702"/>
          </a:xfrm>
        </p:spPr>
        <p:txBody>
          <a:bodyPr>
            <a:normAutofit/>
          </a:bodyPr>
          <a:lstStyle/>
          <a:p>
            <a:pPr>
              <a:lnSpc>
                <a:spcPct val="90000"/>
              </a:lnSpc>
            </a:pPr>
            <a:r>
              <a:rPr lang="en-US" sz="5400" dirty="0">
                <a:solidFill>
                  <a:schemeClr val="accent1">
                    <a:lumMod val="75000"/>
                  </a:schemeClr>
                </a:solidFill>
              </a:rPr>
              <a:t>Data Science Capstone Project</a:t>
            </a:r>
          </a:p>
        </p:txBody>
      </p:sp>
      <p:sp>
        <p:nvSpPr>
          <p:cNvPr id="3" name="Subtitle 2"/>
          <p:cNvSpPr>
            <a:spLocks noGrp="1"/>
          </p:cNvSpPr>
          <p:nvPr>
            <p:ph type="subTitle" idx="1"/>
          </p:nvPr>
        </p:nvSpPr>
        <p:spPr>
          <a:xfrm>
            <a:off x="1293845" y="5405132"/>
            <a:ext cx="9604310" cy="1096252"/>
          </a:xfrm>
        </p:spPr>
        <p:txBody>
          <a:bodyPr>
            <a:normAutofit/>
          </a:bodyPr>
          <a:lstStyle/>
          <a:p>
            <a:r>
              <a:rPr lang="en-US" dirty="0"/>
              <a:t>Sanjeet Shrestha</a:t>
            </a:r>
          </a:p>
          <a:p>
            <a:r>
              <a:rPr lang="en-US" dirty="0">
                <a:hlinkClick r:id="rId2"/>
              </a:rPr>
              <a:t>https://github.com/shre6455/IBM_Data_Science_Professional_Certification</a:t>
            </a:r>
            <a:endParaRPr lang="en-US" dirty="0"/>
          </a:p>
          <a:p>
            <a:r>
              <a:rPr lang="en-US" dirty="0"/>
              <a:t>06/06/2026</a:t>
            </a:r>
          </a:p>
        </p:txBody>
      </p:sp>
    </p:spTree>
    <p:extLst>
      <p:ext uri="{BB962C8B-B14F-4D97-AF65-F5344CB8AC3E}">
        <p14:creationId xmlns:p14="http://schemas.microsoft.com/office/powerpoint/2010/main" val="106904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a:t>
            </a:r>
          </a:p>
        </p:txBody>
      </p:sp>
      <p:sp>
        <p:nvSpPr>
          <p:cNvPr id="3" name="Content Placeholder 2"/>
          <p:cNvSpPr>
            <a:spLocks noGrp="1"/>
          </p:cNvSpPr>
          <p:nvPr>
            <p:ph idx="1"/>
          </p:nvPr>
        </p:nvSpPr>
        <p:spPr/>
        <p:txBody>
          <a:bodyPr/>
          <a:lstStyle/>
          <a:p>
            <a:pPr>
              <a:spcBef>
                <a:spcPct val="0"/>
              </a:spcBef>
            </a:pPr>
            <a:r>
              <a:rPr lang="en-US" sz="3200" dirty="0">
                <a:solidFill>
                  <a:schemeClr val="accent1">
                    <a:lumMod val="75000"/>
                  </a:schemeClr>
                </a:solidFill>
                <a:latin typeface="+mj-lt"/>
                <a:ea typeface="+mj-ea"/>
                <a:cs typeface="+mj-cs"/>
              </a:rPr>
              <a:t>Executive Summary</a:t>
            </a:r>
          </a:p>
          <a:p>
            <a:pPr>
              <a:spcBef>
                <a:spcPct val="0"/>
              </a:spcBef>
            </a:pPr>
            <a:r>
              <a:rPr lang="en-US" sz="3200" dirty="0">
                <a:solidFill>
                  <a:schemeClr val="accent1">
                    <a:lumMod val="75000"/>
                  </a:schemeClr>
                </a:solidFill>
              </a:rPr>
              <a:t>Introduction</a:t>
            </a:r>
          </a:p>
          <a:p>
            <a:pPr>
              <a:spcBef>
                <a:spcPct val="0"/>
              </a:spcBef>
            </a:pPr>
            <a:r>
              <a:rPr lang="en-US" sz="3200" dirty="0">
                <a:solidFill>
                  <a:schemeClr val="accent1">
                    <a:lumMod val="75000"/>
                  </a:schemeClr>
                </a:solidFill>
                <a:latin typeface="+mj-lt"/>
                <a:ea typeface="+mj-ea"/>
                <a:cs typeface="+mj-cs"/>
              </a:rPr>
              <a:t>Methodology</a:t>
            </a:r>
          </a:p>
          <a:p>
            <a:pPr>
              <a:spcBef>
                <a:spcPct val="0"/>
              </a:spcBef>
            </a:pPr>
            <a:r>
              <a:rPr lang="en-US" sz="3200" dirty="0">
                <a:solidFill>
                  <a:schemeClr val="accent1">
                    <a:lumMod val="75000"/>
                  </a:schemeClr>
                </a:solidFill>
                <a:latin typeface="+mj-lt"/>
                <a:ea typeface="+mj-ea"/>
                <a:cs typeface="+mj-cs"/>
              </a:rPr>
              <a:t>Results</a:t>
            </a:r>
          </a:p>
          <a:p>
            <a:pPr>
              <a:spcBef>
                <a:spcPct val="0"/>
              </a:spcBef>
            </a:pPr>
            <a:r>
              <a:rPr lang="en-US" sz="3200" dirty="0">
                <a:solidFill>
                  <a:schemeClr val="accent1">
                    <a:lumMod val="75000"/>
                  </a:schemeClr>
                </a:solidFill>
                <a:latin typeface="+mj-lt"/>
                <a:ea typeface="+mj-ea"/>
                <a:cs typeface="+mj-cs"/>
              </a:rPr>
              <a:t>Conclusion</a:t>
            </a:r>
          </a:p>
          <a:p>
            <a:pPr>
              <a:spcBef>
                <a:spcPct val="0"/>
              </a:spcBef>
            </a:pPr>
            <a:r>
              <a:rPr lang="en-US" sz="3200" dirty="0">
                <a:solidFill>
                  <a:schemeClr val="accent1">
                    <a:lumMod val="75000"/>
                  </a:schemeClr>
                </a:solidFill>
                <a:latin typeface="+mj-lt"/>
                <a:ea typeface="+mj-ea"/>
                <a:cs typeface="+mj-cs"/>
              </a:rPr>
              <a:t>Appendix</a:t>
            </a:r>
          </a:p>
          <a:p>
            <a:endParaRPr lang="en-US" dirty="0"/>
          </a:p>
        </p:txBody>
      </p:sp>
    </p:spTree>
    <p:extLst>
      <p:ext uri="{BB962C8B-B14F-4D97-AF65-F5344CB8AC3E}">
        <p14:creationId xmlns:p14="http://schemas.microsoft.com/office/powerpoint/2010/main" val="3984617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Executive Summary</a:t>
            </a:r>
          </a:p>
        </p:txBody>
      </p:sp>
      <p:sp>
        <p:nvSpPr>
          <p:cNvPr id="4" name="Content Placeholder 3">
            <a:extLst>
              <a:ext uri="{FF2B5EF4-FFF2-40B4-BE49-F238E27FC236}">
                <a16:creationId xmlns:a16="http://schemas.microsoft.com/office/drawing/2014/main" id="{7124F054-8B0A-705D-9645-C249D0A4B6F5}"/>
              </a:ext>
            </a:extLst>
          </p:cNvPr>
          <p:cNvSpPr>
            <a:spLocks noGrp="1"/>
          </p:cNvSpPr>
          <p:nvPr>
            <p:ph idx="1"/>
          </p:nvPr>
        </p:nvSpPr>
        <p:spPr/>
        <p:txBody>
          <a:bodyPr>
            <a:normAutofit/>
          </a:bodyPr>
          <a:lstStyle/>
          <a:p>
            <a:r>
              <a:rPr lang="en-US" sz="1800" dirty="0">
                <a:solidFill>
                  <a:schemeClr val="accent1">
                    <a:lumMod val="75000"/>
                  </a:schemeClr>
                </a:solidFill>
                <a:latin typeface="+mj-lt"/>
                <a:ea typeface="+mj-ea"/>
                <a:cs typeface="+mj-cs"/>
              </a:rPr>
              <a:t>Collected data from the SpaceX API and SpaceX Wikipedia page. Created labels columns to identify successful landings. Performed exploratory data analysis using SQL, data visualizations, column maps, and dashboards. Selected relevant features for modeling, converted categorical variables using one-hot encoding, standardized the data, and applied </a:t>
            </a:r>
            <a:r>
              <a:rPr lang="en-US" sz="1800" dirty="0" err="1">
                <a:solidFill>
                  <a:schemeClr val="accent1">
                    <a:lumMod val="75000"/>
                  </a:schemeClr>
                </a:solidFill>
                <a:latin typeface="+mj-lt"/>
                <a:ea typeface="+mj-ea"/>
                <a:cs typeface="+mj-cs"/>
              </a:rPr>
              <a:t>GridSearchCV</a:t>
            </a:r>
            <a:r>
              <a:rPr lang="en-US" sz="1800" dirty="0">
                <a:solidFill>
                  <a:schemeClr val="accent1">
                    <a:lumMod val="75000"/>
                  </a:schemeClr>
                </a:solidFill>
                <a:latin typeface="+mj-lt"/>
                <a:ea typeface="+mj-ea"/>
                <a:cs typeface="+mj-cs"/>
              </a:rPr>
              <a:t> to optimize machine learning model parameters. Evaluated model performance using accuracy scores and confusion matrices. </a:t>
            </a:r>
          </a:p>
          <a:p>
            <a:r>
              <a:rPr lang="en-US" sz="1800" dirty="0">
                <a:solidFill>
                  <a:schemeClr val="accent1">
                    <a:lumMod val="75000"/>
                  </a:schemeClr>
                </a:solidFill>
                <a:latin typeface="+mj-lt"/>
                <a:ea typeface="+mj-ea"/>
                <a:cs typeface="+mj-cs"/>
              </a:rPr>
              <a:t>Developed and evaluated four machine learning models: Logistic Regression, Support Vector Machine (SVM), Decision Tree Classifier, and K-Nearest Neighbors (KNN). All models achieved an accuracy of approximately 83.33%. The models tended to overpredict successful landings, indicating that additional data may be needed to improve model generalization and accuracy.</a:t>
            </a:r>
          </a:p>
        </p:txBody>
      </p:sp>
    </p:spTree>
    <p:extLst>
      <p:ext uri="{BB962C8B-B14F-4D97-AF65-F5344CB8AC3E}">
        <p14:creationId xmlns:p14="http://schemas.microsoft.com/office/powerpoint/2010/main" val="147601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4" name="object 7">
            <a:extLst>
              <a:ext uri="{FF2B5EF4-FFF2-40B4-BE49-F238E27FC236}">
                <a16:creationId xmlns:a16="http://schemas.microsoft.com/office/drawing/2014/main" id="{7BC7B065-74D2-62D0-6E0C-C0BFC0223AF6}"/>
              </a:ext>
            </a:extLst>
          </p:cNvPr>
          <p:cNvSpPr/>
          <p:nvPr/>
        </p:nvSpPr>
        <p:spPr>
          <a:xfrm>
            <a:off x="845821" y="1664367"/>
            <a:ext cx="3479291" cy="3529266"/>
          </a:xfrm>
          <a:prstGeom prst="rect">
            <a:avLst/>
          </a:prstGeom>
          <a:blipFill>
            <a:blip r:embed="rId2" cstate="print"/>
            <a:stretch>
              <a:fillRect/>
            </a:stretch>
          </a:blipFill>
        </p:spPr>
        <p:txBody>
          <a:bodyPr wrap="square" lIns="0" tIns="0" rIns="0" bIns="0" rtlCol="0"/>
          <a:lstStyle/>
          <a:p>
            <a:endParaRPr/>
          </a:p>
        </p:txBody>
      </p:sp>
      <p:sp>
        <p:nvSpPr>
          <p:cNvPr id="9" name="Content Placeholder 8">
            <a:extLst>
              <a:ext uri="{FF2B5EF4-FFF2-40B4-BE49-F238E27FC236}">
                <a16:creationId xmlns:a16="http://schemas.microsoft.com/office/drawing/2014/main" id="{9F702B39-A198-3956-C694-01AE830DD722}"/>
              </a:ext>
            </a:extLst>
          </p:cNvPr>
          <p:cNvSpPr>
            <a:spLocks noGrp="1"/>
          </p:cNvSpPr>
          <p:nvPr>
            <p:ph sz="half" idx="2"/>
          </p:nvPr>
        </p:nvSpPr>
        <p:spPr>
          <a:xfrm>
            <a:off x="4910328" y="1646238"/>
            <a:ext cx="5209032" cy="3810001"/>
          </a:xfrm>
        </p:spPr>
        <p:txBody>
          <a:bodyPr>
            <a:normAutofit fontScale="40000" lnSpcReduction="20000"/>
          </a:bodyPr>
          <a:lstStyle/>
          <a:p>
            <a:pPr marL="0" indent="0">
              <a:lnSpc>
                <a:spcPct val="110000"/>
              </a:lnSpc>
              <a:spcBef>
                <a:spcPct val="0"/>
              </a:spcBef>
              <a:buNone/>
            </a:pPr>
            <a:r>
              <a:rPr lang="en-US" sz="4100" b="1" dirty="0">
                <a:solidFill>
                  <a:schemeClr val="accent1">
                    <a:lumMod val="75000"/>
                  </a:schemeClr>
                </a:solidFill>
                <a:latin typeface="+mj-lt"/>
                <a:ea typeface="+mj-ea"/>
                <a:cs typeface="+mj-cs"/>
              </a:rPr>
              <a:t>Background</a:t>
            </a:r>
          </a:p>
          <a:p>
            <a:pPr>
              <a:lnSpc>
                <a:spcPct val="110000"/>
              </a:lnSpc>
              <a:spcBef>
                <a:spcPct val="0"/>
              </a:spcBef>
            </a:pPr>
            <a:r>
              <a:rPr lang="en-US" sz="4100" dirty="0">
                <a:solidFill>
                  <a:schemeClr val="accent1">
                    <a:lumMod val="75000"/>
                  </a:schemeClr>
                </a:solidFill>
                <a:latin typeface="+mj-lt"/>
                <a:ea typeface="+mj-ea"/>
                <a:cs typeface="+mj-cs"/>
              </a:rPr>
              <a:t>The commercial space industry is rapidly expanding. </a:t>
            </a:r>
          </a:p>
          <a:p>
            <a:pPr>
              <a:lnSpc>
                <a:spcPct val="110000"/>
              </a:lnSpc>
              <a:spcBef>
                <a:spcPct val="0"/>
              </a:spcBef>
            </a:pPr>
            <a:r>
              <a:rPr lang="en-US" sz="4100" dirty="0">
                <a:solidFill>
                  <a:schemeClr val="accent1">
                    <a:lumMod val="75000"/>
                  </a:schemeClr>
                </a:solidFill>
                <a:latin typeface="+mj-lt"/>
                <a:ea typeface="+mj-ea"/>
                <a:cs typeface="+mj-cs"/>
              </a:rPr>
              <a:t>SpaceX offers significantly lower launch costs compared to competitors ($62 million vs. $165 million USD). </a:t>
            </a:r>
          </a:p>
          <a:p>
            <a:pPr>
              <a:lnSpc>
                <a:spcPct val="110000"/>
              </a:lnSpc>
              <a:spcBef>
                <a:spcPct val="0"/>
              </a:spcBef>
            </a:pPr>
            <a:r>
              <a:rPr lang="en-US" sz="4100" dirty="0">
                <a:solidFill>
                  <a:schemeClr val="accent1">
                    <a:lumMod val="75000"/>
                  </a:schemeClr>
                </a:solidFill>
                <a:latin typeface="+mj-lt"/>
                <a:ea typeface="+mj-ea"/>
                <a:cs typeface="+mj-cs"/>
              </a:rPr>
              <a:t>A major cost advantage comes from the ability to recover and reuse the first stage of the rocket.</a:t>
            </a:r>
          </a:p>
          <a:p>
            <a:pPr>
              <a:lnSpc>
                <a:spcPct val="110000"/>
              </a:lnSpc>
              <a:spcBef>
                <a:spcPct val="0"/>
              </a:spcBef>
            </a:pPr>
            <a:r>
              <a:rPr lang="en-US" sz="4100" dirty="0">
                <a:solidFill>
                  <a:schemeClr val="accent1">
                    <a:lumMod val="75000"/>
                  </a:schemeClr>
                </a:solidFill>
                <a:latin typeface="+mj-lt"/>
                <a:ea typeface="+mj-ea"/>
                <a:cs typeface="+mj-cs"/>
              </a:rPr>
              <a:t>SpaceX aims to compete with SpaceX in the commercial launch market. </a:t>
            </a:r>
          </a:p>
          <a:p>
            <a:pPr marL="0" indent="0">
              <a:lnSpc>
                <a:spcPct val="110000"/>
              </a:lnSpc>
              <a:spcBef>
                <a:spcPct val="0"/>
              </a:spcBef>
              <a:buNone/>
            </a:pPr>
            <a:endParaRPr lang="en-US" sz="4100" b="1" dirty="0">
              <a:solidFill>
                <a:schemeClr val="accent1">
                  <a:lumMod val="75000"/>
                </a:schemeClr>
              </a:solidFill>
              <a:latin typeface="+mj-lt"/>
              <a:ea typeface="+mj-ea"/>
              <a:cs typeface="+mj-cs"/>
            </a:endParaRPr>
          </a:p>
          <a:p>
            <a:pPr marL="0" indent="0">
              <a:lnSpc>
                <a:spcPct val="110000"/>
              </a:lnSpc>
              <a:spcBef>
                <a:spcPct val="0"/>
              </a:spcBef>
              <a:buNone/>
            </a:pPr>
            <a:r>
              <a:rPr lang="en-US" sz="4100" b="1" dirty="0">
                <a:solidFill>
                  <a:schemeClr val="accent1">
                    <a:lumMod val="75000"/>
                  </a:schemeClr>
                </a:solidFill>
                <a:latin typeface="+mj-lt"/>
                <a:ea typeface="+mj-ea"/>
                <a:cs typeface="+mj-cs"/>
              </a:rPr>
              <a:t>Problem Statement</a:t>
            </a:r>
          </a:p>
          <a:p>
            <a:pPr>
              <a:lnSpc>
                <a:spcPct val="110000"/>
              </a:lnSpc>
              <a:spcBef>
                <a:spcPct val="0"/>
              </a:spcBef>
            </a:pPr>
            <a:r>
              <a:rPr lang="en-US" sz="4100" dirty="0">
                <a:solidFill>
                  <a:schemeClr val="accent1">
                    <a:lumMod val="75000"/>
                  </a:schemeClr>
                </a:solidFill>
                <a:latin typeface="+mj-lt"/>
                <a:ea typeface="+mj-ea"/>
                <a:cs typeface="+mj-cs"/>
              </a:rPr>
              <a:t>SpaceX has tasked us with developing a machine learning model to predict the successful recovery of Falcon 9 first-stage boosters.</a:t>
            </a:r>
          </a:p>
          <a:p>
            <a:endParaRPr lang="en-US" dirty="0"/>
          </a:p>
        </p:txBody>
      </p:sp>
    </p:spTree>
    <p:extLst>
      <p:ext uri="{BB962C8B-B14F-4D97-AF65-F5344CB8AC3E}">
        <p14:creationId xmlns:p14="http://schemas.microsoft.com/office/powerpoint/2010/main" val="2475092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a:t>
            </a:r>
          </a:p>
        </p:txBody>
      </p:sp>
      <p:sp>
        <p:nvSpPr>
          <p:cNvPr id="5" name="Content Placeholder 4">
            <a:extLst>
              <a:ext uri="{FF2B5EF4-FFF2-40B4-BE49-F238E27FC236}">
                <a16:creationId xmlns:a16="http://schemas.microsoft.com/office/drawing/2014/main" id="{58D2E39A-8519-BB49-0A99-DAF69C324667}"/>
              </a:ext>
            </a:extLst>
          </p:cNvPr>
          <p:cNvSpPr>
            <a:spLocks noGrp="1"/>
          </p:cNvSpPr>
          <p:nvPr>
            <p:ph idx="1"/>
          </p:nvPr>
        </p:nvSpPr>
        <p:spPr/>
        <p:txBody>
          <a:bodyPr/>
          <a:lstStyle/>
          <a:p>
            <a:pPr>
              <a:spcBef>
                <a:spcPct val="0"/>
              </a:spcBef>
            </a:pPr>
            <a:r>
              <a:rPr lang="en-US" sz="1600" dirty="0">
                <a:solidFill>
                  <a:schemeClr val="accent1">
                    <a:lumMod val="75000"/>
                  </a:schemeClr>
                </a:solidFill>
                <a:latin typeface="+mj-lt"/>
                <a:ea typeface="+mj-ea"/>
                <a:cs typeface="+mj-cs"/>
              </a:rPr>
              <a:t>Collected and integrated data from the SpaceX Public API and SpaceX Wikipedia page. </a:t>
            </a:r>
          </a:p>
          <a:p>
            <a:pPr>
              <a:spcBef>
                <a:spcPct val="0"/>
              </a:spcBef>
            </a:pPr>
            <a:endParaRPr lang="en-US" sz="1600" dirty="0">
              <a:solidFill>
                <a:schemeClr val="accent1">
                  <a:lumMod val="75000"/>
                </a:schemeClr>
              </a:solidFill>
              <a:latin typeface="+mj-lt"/>
              <a:ea typeface="+mj-ea"/>
              <a:cs typeface="+mj-cs"/>
            </a:endParaRPr>
          </a:p>
          <a:p>
            <a:pPr>
              <a:spcBef>
                <a:spcPct val="0"/>
              </a:spcBef>
            </a:pPr>
            <a:r>
              <a:rPr lang="en-US" sz="1600" dirty="0">
                <a:solidFill>
                  <a:schemeClr val="accent1">
                    <a:lumMod val="75000"/>
                  </a:schemeClr>
                </a:solidFill>
                <a:latin typeface="+mj-lt"/>
                <a:ea typeface="+mj-ea"/>
                <a:cs typeface="+mj-cs"/>
              </a:rPr>
              <a:t>Performed data wrangling and preprocessing by classifying successful and unsuccessful booster landings. </a:t>
            </a:r>
          </a:p>
          <a:p>
            <a:pPr>
              <a:spcBef>
                <a:spcPct val="0"/>
              </a:spcBef>
            </a:pPr>
            <a:endParaRPr lang="en-US" sz="1600" dirty="0">
              <a:solidFill>
                <a:schemeClr val="accent1">
                  <a:lumMod val="75000"/>
                </a:schemeClr>
              </a:solidFill>
              <a:latin typeface="+mj-lt"/>
              <a:ea typeface="+mj-ea"/>
              <a:cs typeface="+mj-cs"/>
            </a:endParaRPr>
          </a:p>
          <a:p>
            <a:pPr>
              <a:spcBef>
                <a:spcPct val="0"/>
              </a:spcBef>
            </a:pPr>
            <a:r>
              <a:rPr lang="en-US" sz="1600" dirty="0">
                <a:solidFill>
                  <a:schemeClr val="accent1">
                    <a:lumMod val="75000"/>
                  </a:schemeClr>
                </a:solidFill>
                <a:latin typeface="+mj-lt"/>
                <a:ea typeface="+mj-ea"/>
                <a:cs typeface="+mj-cs"/>
              </a:rPr>
              <a:t>Conducted exploratory data analysis (EDA) using SQL queries and data visualizations. </a:t>
            </a:r>
          </a:p>
          <a:p>
            <a:pPr>
              <a:spcBef>
                <a:spcPct val="0"/>
              </a:spcBef>
            </a:pPr>
            <a:endParaRPr lang="en-US" sz="1600" dirty="0">
              <a:solidFill>
                <a:schemeClr val="accent1">
                  <a:lumMod val="75000"/>
                </a:schemeClr>
              </a:solidFill>
              <a:latin typeface="+mj-lt"/>
              <a:ea typeface="+mj-ea"/>
              <a:cs typeface="+mj-cs"/>
            </a:endParaRPr>
          </a:p>
          <a:p>
            <a:pPr>
              <a:spcBef>
                <a:spcPct val="0"/>
              </a:spcBef>
            </a:pPr>
            <a:r>
              <a:rPr lang="en-US" sz="1600" dirty="0">
                <a:solidFill>
                  <a:schemeClr val="accent1">
                    <a:lumMod val="75000"/>
                  </a:schemeClr>
                </a:solidFill>
                <a:latin typeface="+mj-lt"/>
                <a:ea typeface="+mj-ea"/>
                <a:cs typeface="+mj-cs"/>
              </a:rPr>
              <a:t>Developed interactive visual analytics dashboards using Folium and Plotly Dash. </a:t>
            </a:r>
          </a:p>
          <a:p>
            <a:pPr>
              <a:spcBef>
                <a:spcPct val="0"/>
              </a:spcBef>
            </a:pPr>
            <a:endParaRPr lang="en-US" sz="1600" dirty="0">
              <a:solidFill>
                <a:schemeClr val="accent1">
                  <a:lumMod val="75000"/>
                </a:schemeClr>
              </a:solidFill>
              <a:latin typeface="+mj-lt"/>
              <a:ea typeface="+mj-ea"/>
              <a:cs typeface="+mj-cs"/>
            </a:endParaRPr>
          </a:p>
          <a:p>
            <a:pPr>
              <a:spcBef>
                <a:spcPct val="0"/>
              </a:spcBef>
            </a:pPr>
            <a:r>
              <a:rPr lang="en-US" sz="1600" dirty="0">
                <a:solidFill>
                  <a:schemeClr val="accent1">
                    <a:lumMod val="75000"/>
                  </a:schemeClr>
                </a:solidFill>
                <a:latin typeface="+mj-lt"/>
                <a:ea typeface="+mj-ea"/>
                <a:cs typeface="+mj-cs"/>
              </a:rPr>
              <a:t>Built predictive classification models to forecast landing success. Optimized model performance through hyperparameter tuning using </a:t>
            </a:r>
            <a:r>
              <a:rPr lang="en-US" sz="1600" dirty="0" err="1">
                <a:solidFill>
                  <a:schemeClr val="accent1">
                    <a:lumMod val="75000"/>
                  </a:schemeClr>
                </a:solidFill>
                <a:latin typeface="+mj-lt"/>
                <a:ea typeface="+mj-ea"/>
                <a:cs typeface="+mj-cs"/>
              </a:rPr>
              <a:t>GridSearchCV</a:t>
            </a:r>
            <a:r>
              <a:rPr lang="en-US" sz="1600" dirty="0">
                <a:solidFill>
                  <a:schemeClr val="accent1">
                    <a:lumMod val="75000"/>
                  </a:schemeClr>
                </a:solidFill>
                <a:latin typeface="+mj-lt"/>
                <a:ea typeface="+mj-ea"/>
                <a:cs typeface="+mj-cs"/>
              </a:rPr>
              <a:t>.</a:t>
            </a:r>
          </a:p>
        </p:txBody>
      </p:sp>
    </p:spTree>
    <p:extLst>
      <p:ext uri="{BB962C8B-B14F-4D97-AF65-F5344CB8AC3E}">
        <p14:creationId xmlns:p14="http://schemas.microsoft.com/office/powerpoint/2010/main" val="2761515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Collection Overview</a:t>
            </a:r>
          </a:p>
        </p:txBody>
      </p:sp>
      <p:sp>
        <p:nvSpPr>
          <p:cNvPr id="3" name="Content Placeholder 4">
            <a:extLst>
              <a:ext uri="{FF2B5EF4-FFF2-40B4-BE49-F238E27FC236}">
                <a16:creationId xmlns:a16="http://schemas.microsoft.com/office/drawing/2014/main" id="{02D269F3-8777-0B38-8201-570F987D5B7F}"/>
              </a:ext>
            </a:extLst>
          </p:cNvPr>
          <p:cNvSpPr txBox="1">
            <a:spLocks/>
          </p:cNvSpPr>
          <p:nvPr/>
        </p:nvSpPr>
        <p:spPr>
          <a:xfrm>
            <a:off x="1295400" y="1981201"/>
            <a:ext cx="9601200" cy="3809999"/>
          </a:xfrm>
          <a:prstGeom prst="rect">
            <a:avLst/>
          </a:prstGeom>
        </p:spPr>
        <p:txBody>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pPr>
              <a:spcBef>
                <a:spcPct val="0"/>
              </a:spcBef>
            </a:pPr>
            <a:endParaRPr lang="en-US" sz="1600" dirty="0">
              <a:solidFill>
                <a:schemeClr val="accent1">
                  <a:lumMod val="75000"/>
                </a:schemeClr>
              </a:solidFill>
              <a:latin typeface="+mj-lt"/>
              <a:ea typeface="+mj-ea"/>
              <a:cs typeface="+mj-cs"/>
            </a:endParaRPr>
          </a:p>
        </p:txBody>
      </p:sp>
      <p:sp>
        <p:nvSpPr>
          <p:cNvPr id="5" name="Content Placeholder 4">
            <a:extLst>
              <a:ext uri="{FF2B5EF4-FFF2-40B4-BE49-F238E27FC236}">
                <a16:creationId xmlns:a16="http://schemas.microsoft.com/office/drawing/2014/main" id="{F6C8A464-95DF-6772-70DA-8EAC91C30E29}"/>
              </a:ext>
            </a:extLst>
          </p:cNvPr>
          <p:cNvSpPr txBox="1">
            <a:spLocks/>
          </p:cNvSpPr>
          <p:nvPr/>
        </p:nvSpPr>
        <p:spPr>
          <a:xfrm>
            <a:off x="1295400" y="1749553"/>
            <a:ext cx="9601200" cy="3809999"/>
          </a:xfrm>
          <a:prstGeom prst="rect">
            <a:avLst/>
          </a:prstGeom>
        </p:spPr>
        <p:txBody>
          <a:bodyPr/>
          <a:lstStyle>
            <a:lvl1pPr marL="228600" indent="-228600" algn="l" defTabSz="914400" rtl="0" eaLnBrk="1" latinLnBrk="0" hangingPunct="1">
              <a:lnSpc>
                <a:spcPct val="90000"/>
              </a:lnSpc>
              <a:spcBef>
                <a:spcPts val="1800"/>
              </a:spcBef>
              <a:buClr>
                <a:schemeClr val="accent1">
                  <a:lumMod val="75000"/>
                </a:schemeClr>
              </a:buClr>
              <a:buSzPct val="100000"/>
              <a:buFont typeface="Arial" pitchFamily="34" charset="0"/>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1200"/>
              </a:spcBef>
              <a:buClr>
                <a:schemeClr val="accent1">
                  <a:lumMod val="75000"/>
                </a:schemeClr>
              </a:buClr>
              <a:buSzPct val="100000"/>
              <a:buFont typeface="Arial" pitchFamily="34" charset="0"/>
              <a:buChar char="▪"/>
              <a:defRPr sz="1800" kern="1200">
                <a:solidFill>
                  <a:schemeClr val="tx1"/>
                </a:solidFill>
                <a:latin typeface="+mn-lt"/>
                <a:ea typeface="+mn-ea"/>
                <a:cs typeface="+mn-cs"/>
              </a:defRPr>
            </a:lvl2pPr>
            <a:lvl3pPr marL="685800" indent="-179388" algn="l" defTabSz="914400" rtl="0" eaLnBrk="1" latinLnBrk="0" hangingPunct="1">
              <a:lnSpc>
                <a:spcPct val="90000"/>
              </a:lnSpc>
              <a:spcBef>
                <a:spcPts val="800"/>
              </a:spcBef>
              <a:buClr>
                <a:schemeClr val="accent1">
                  <a:lumMod val="75000"/>
                </a:schemeClr>
              </a:buClr>
              <a:buSzPct val="100000"/>
              <a:buFont typeface="Arial" pitchFamily="34" charset="0"/>
              <a:buChar char="▪"/>
              <a:defRPr sz="1600" kern="1200">
                <a:solidFill>
                  <a:schemeClr val="tx1"/>
                </a:solidFill>
                <a:latin typeface="+mn-lt"/>
                <a:ea typeface="+mn-ea"/>
                <a:cs typeface="+mn-cs"/>
              </a:defRPr>
            </a:lvl3pPr>
            <a:lvl4pPr marL="914400" indent="-182880" algn="l" defTabSz="914400" rtl="0" eaLnBrk="1" latinLnBrk="0" hangingPunct="1">
              <a:lnSpc>
                <a:spcPct val="90000"/>
              </a:lnSpc>
              <a:spcBef>
                <a:spcPts val="8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4pPr>
            <a:lvl5pPr marL="11430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5pPr>
            <a:lvl6pPr marL="13716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6pPr>
            <a:lvl7pPr marL="1600200" indent="-179388"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7pPr>
            <a:lvl8pPr marL="1828800" indent="-182880" algn="l" defTabSz="914400" rtl="0" eaLnBrk="1" latinLnBrk="0" hangingPunct="1">
              <a:lnSpc>
                <a:spcPct val="90000"/>
              </a:lnSpc>
              <a:spcBef>
                <a:spcPts val="600"/>
              </a:spcBef>
              <a:buClr>
                <a:schemeClr val="accent1">
                  <a:lumMod val="75000"/>
                </a:schemeClr>
              </a:buClr>
              <a:buSzPct val="100000"/>
              <a:buFont typeface="Arial" pitchFamily="34" charset="0"/>
              <a:buChar char="▪"/>
              <a:defRPr sz="1400" kern="1200">
                <a:solidFill>
                  <a:schemeClr val="tx1"/>
                </a:solidFill>
                <a:latin typeface="+mn-lt"/>
                <a:ea typeface="+mn-ea"/>
                <a:cs typeface="+mn-cs"/>
              </a:defRPr>
            </a:lvl8pPr>
            <a:lvl9pPr marL="1878012" indent="0" algn="l" defTabSz="914400" rtl="0" eaLnBrk="1" latinLnBrk="0" hangingPunct="1">
              <a:lnSpc>
                <a:spcPct val="90000"/>
              </a:lnSpc>
              <a:spcBef>
                <a:spcPts val="600"/>
              </a:spcBef>
              <a:buClr>
                <a:schemeClr val="accent1">
                  <a:lumMod val="75000"/>
                </a:schemeClr>
              </a:buClr>
              <a:buSzPct val="100000"/>
              <a:buFont typeface="Arial" pitchFamily="34" charset="0"/>
              <a:buNone/>
              <a:defRPr sz="1400" kern="1200">
                <a:solidFill>
                  <a:schemeClr val="tx1"/>
                </a:solidFill>
                <a:latin typeface="+mn-lt"/>
                <a:ea typeface="+mn-ea"/>
                <a:cs typeface="+mn-cs"/>
              </a:defRPr>
            </a:lvl9pPr>
          </a:lstStyle>
          <a:p>
            <a:r>
              <a:rPr lang="en-US" sz="1600" dirty="0">
                <a:solidFill>
                  <a:schemeClr val="accent1">
                    <a:lumMod val="75000"/>
                  </a:schemeClr>
                </a:solidFill>
                <a:latin typeface="+mj-lt"/>
                <a:ea typeface="+mj-ea"/>
                <a:cs typeface="+mj-cs"/>
              </a:rPr>
              <a:t>Method: Hybrid data collection via SpaceX Public API + Wikipedia Web Scraping.</a:t>
            </a:r>
          </a:p>
          <a:p>
            <a:r>
              <a:rPr lang="en-US" sz="1600" dirty="0">
                <a:solidFill>
                  <a:schemeClr val="accent1">
                    <a:lumMod val="75000"/>
                  </a:schemeClr>
                </a:solidFill>
                <a:latin typeface="+mj-lt"/>
                <a:ea typeface="+mj-ea"/>
                <a:cs typeface="+mj-cs"/>
              </a:rPr>
              <a:t>Up Next: Flowcharts detailing both extraction pipelines.</a:t>
            </a:r>
          </a:p>
          <a:p>
            <a:r>
              <a:rPr lang="en-US" sz="1600" dirty="0">
                <a:solidFill>
                  <a:schemeClr val="accent1">
                    <a:lumMod val="75000"/>
                  </a:schemeClr>
                </a:solidFill>
                <a:latin typeface="+mj-lt"/>
                <a:ea typeface="+mj-ea"/>
                <a:cs typeface="+mj-cs"/>
              </a:rPr>
              <a:t>API Fields: 17 core telemetry and launch variables (including coordinates, hardware reuse tracker, and landing specs).</a:t>
            </a:r>
          </a:p>
          <a:p>
            <a:r>
              <a:rPr lang="en-US" sz="1600" dirty="0">
                <a:solidFill>
                  <a:schemeClr val="accent1">
                    <a:lumMod val="75000"/>
                  </a:schemeClr>
                </a:solidFill>
                <a:latin typeface="+mj-lt"/>
                <a:ea typeface="+mj-ea"/>
                <a:cs typeface="+mj-cs"/>
              </a:rPr>
              <a:t>Scraped Fields: 11 core historical launch variables (including customer data, timeline, and payload details).</a:t>
            </a:r>
          </a:p>
        </p:txBody>
      </p:sp>
    </p:spTree>
    <p:extLst>
      <p:ext uri="{BB962C8B-B14F-4D97-AF65-F5344CB8AC3E}">
        <p14:creationId xmlns:p14="http://schemas.microsoft.com/office/powerpoint/2010/main" val="45273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0AA92BC5-6E62-9CBF-96AC-3F70BC3D629D}"/>
              </a:ext>
            </a:extLst>
          </p:cNvPr>
          <p:cNvSpPr>
            <a:spLocks noGrp="1"/>
          </p:cNvSpPr>
          <p:nvPr>
            <p:ph type="title"/>
          </p:nvPr>
        </p:nvSpPr>
        <p:spPr>
          <a:xfrm>
            <a:off x="7909560" y="576072"/>
            <a:ext cx="3657600" cy="2194560"/>
          </a:xfrm>
        </p:spPr>
        <p:txBody>
          <a:bodyPr anchor="b">
            <a:normAutofit/>
          </a:bodyPr>
          <a:lstStyle/>
          <a:p>
            <a:r>
              <a:rPr lang="en-US" dirty="0"/>
              <a:t>Data collection- SpaceX API</a:t>
            </a:r>
          </a:p>
        </p:txBody>
      </p:sp>
      <p:pic>
        <p:nvPicPr>
          <p:cNvPr id="3" name="Picture 2">
            <a:extLst>
              <a:ext uri="{FF2B5EF4-FFF2-40B4-BE49-F238E27FC236}">
                <a16:creationId xmlns:a16="http://schemas.microsoft.com/office/drawing/2014/main" id="{81F0C6E6-F0E4-C4E6-49E9-3E40DA3192D5}"/>
              </a:ext>
            </a:extLst>
          </p:cNvPr>
          <p:cNvPicPr>
            <a:picLocks noChangeAspect="1"/>
          </p:cNvPicPr>
          <p:nvPr/>
        </p:nvPicPr>
        <p:blipFill>
          <a:blip r:embed="rId2"/>
          <a:stretch>
            <a:fillRect/>
          </a:stretch>
        </p:blipFill>
        <p:spPr>
          <a:xfrm>
            <a:off x="4412" y="1325721"/>
            <a:ext cx="7315200" cy="4206240"/>
          </a:xfrm>
          <a:prstGeom prst="rect">
            <a:avLst/>
          </a:prstGeom>
          <a:noFill/>
        </p:spPr>
      </p:pic>
    </p:spTree>
    <p:extLst>
      <p:ext uri="{BB962C8B-B14F-4D97-AF65-F5344CB8AC3E}">
        <p14:creationId xmlns:p14="http://schemas.microsoft.com/office/powerpoint/2010/main" val="1544302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9AF547D8-452A-F3D6-5EFA-BA8D89837FFA}"/>
              </a:ext>
            </a:extLst>
          </p:cNvPr>
          <p:cNvSpPr>
            <a:spLocks noGrp="1"/>
          </p:cNvSpPr>
          <p:nvPr>
            <p:ph type="title"/>
          </p:nvPr>
        </p:nvSpPr>
        <p:spPr>
          <a:xfrm>
            <a:off x="7913152" y="571500"/>
            <a:ext cx="3657600" cy="2197100"/>
          </a:xfrm>
        </p:spPr>
        <p:txBody>
          <a:bodyPr/>
          <a:lstStyle/>
          <a:p>
            <a:r>
              <a:rPr lang="en-US" dirty="0"/>
              <a:t>Data Collection-Web Scraping</a:t>
            </a:r>
          </a:p>
        </p:txBody>
      </p:sp>
      <p:pic>
        <p:nvPicPr>
          <p:cNvPr id="4" name="Picture 3">
            <a:extLst>
              <a:ext uri="{FF2B5EF4-FFF2-40B4-BE49-F238E27FC236}">
                <a16:creationId xmlns:a16="http://schemas.microsoft.com/office/drawing/2014/main" id="{5F94FFB3-F26F-27B8-B08B-C3C21E343635}"/>
              </a:ext>
            </a:extLst>
          </p:cNvPr>
          <p:cNvPicPr>
            <a:picLocks noChangeAspect="1"/>
          </p:cNvPicPr>
          <p:nvPr/>
        </p:nvPicPr>
        <p:blipFill>
          <a:blip r:embed="rId2"/>
          <a:srcRect l="1808"/>
          <a:stretch>
            <a:fillRect/>
          </a:stretch>
        </p:blipFill>
        <p:spPr>
          <a:xfrm>
            <a:off x="543197" y="571500"/>
            <a:ext cx="6217920" cy="5715000"/>
          </a:xfrm>
          <a:prstGeom prst="rect">
            <a:avLst/>
          </a:prstGeom>
          <a:noFill/>
        </p:spPr>
      </p:pic>
    </p:spTree>
    <p:extLst>
      <p:ext uri="{BB962C8B-B14F-4D97-AF65-F5344CB8AC3E}">
        <p14:creationId xmlns:p14="http://schemas.microsoft.com/office/powerpoint/2010/main" val="2434040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71E94-3296-0B80-895C-8FD241143197}"/>
              </a:ext>
            </a:extLst>
          </p:cNvPr>
          <p:cNvSpPr>
            <a:spLocks noGrp="1"/>
          </p:cNvSpPr>
          <p:nvPr>
            <p:ph type="title"/>
          </p:nvPr>
        </p:nvSpPr>
        <p:spPr/>
        <p:txBody>
          <a:bodyPr/>
          <a:lstStyle/>
          <a:p>
            <a:r>
              <a:rPr lang="en-US" dirty="0"/>
              <a:t>Data Wrangling</a:t>
            </a:r>
          </a:p>
        </p:txBody>
      </p:sp>
      <p:sp>
        <p:nvSpPr>
          <p:cNvPr id="4" name="TextBox 3">
            <a:extLst>
              <a:ext uri="{FF2B5EF4-FFF2-40B4-BE49-F238E27FC236}">
                <a16:creationId xmlns:a16="http://schemas.microsoft.com/office/drawing/2014/main" id="{4CF4AF08-CD24-D21E-274C-635EA86FB9AF}"/>
              </a:ext>
            </a:extLst>
          </p:cNvPr>
          <p:cNvSpPr txBox="1"/>
          <p:nvPr/>
        </p:nvSpPr>
        <p:spPr>
          <a:xfrm>
            <a:off x="1295400" y="2042493"/>
            <a:ext cx="8415528" cy="1892826"/>
          </a:xfrm>
          <a:prstGeom prst="rect">
            <a:avLst/>
          </a:prstGeom>
          <a:noFill/>
        </p:spPr>
        <p:txBody>
          <a:bodyPr wrap="square">
            <a:spAutoFit/>
          </a:bodyPr>
          <a:lstStyle/>
          <a:p>
            <a:pPr marL="228600" indent="-228600">
              <a:lnSpc>
                <a:spcPct val="90000"/>
              </a:lnSpc>
              <a:spcBef>
                <a:spcPts val="1800"/>
              </a:spcBef>
              <a:buClr>
                <a:schemeClr val="accent1">
                  <a:lumMod val="75000"/>
                </a:schemeClr>
              </a:buClr>
              <a:buSzPct val="100000"/>
              <a:buFont typeface="Arial" pitchFamily="34" charset="0"/>
              <a:buChar char="▪"/>
            </a:pPr>
            <a:r>
              <a:rPr lang="en-US" sz="1600" dirty="0">
                <a:solidFill>
                  <a:schemeClr val="accent1">
                    <a:lumMod val="75000"/>
                  </a:schemeClr>
                </a:solidFill>
                <a:latin typeface="+mj-lt"/>
                <a:ea typeface="+mj-ea"/>
                <a:cs typeface="+mj-cs"/>
              </a:rPr>
              <a:t>Goal: Create a binary training label (class) from raw landing outcome data.</a:t>
            </a:r>
          </a:p>
          <a:p>
            <a:pPr marL="228600" indent="-228600">
              <a:lnSpc>
                <a:spcPct val="90000"/>
              </a:lnSpc>
              <a:spcBef>
                <a:spcPts val="1800"/>
              </a:spcBef>
              <a:buClr>
                <a:schemeClr val="accent1">
                  <a:lumMod val="75000"/>
                </a:schemeClr>
              </a:buClr>
              <a:buSzPct val="100000"/>
              <a:buFont typeface="Arial" pitchFamily="34" charset="0"/>
              <a:buChar char="▪"/>
            </a:pPr>
            <a:r>
              <a:rPr lang="en-US" sz="1600" dirty="0">
                <a:solidFill>
                  <a:schemeClr val="accent1">
                    <a:lumMod val="75000"/>
                  </a:schemeClr>
                </a:solidFill>
                <a:latin typeface="+mj-lt"/>
                <a:ea typeface="+mj-ea"/>
                <a:cs typeface="+mj-cs"/>
              </a:rPr>
              <a:t>Logic: Successful landings are assigned a 1; failures or non-attempts are assigned a 0.</a:t>
            </a:r>
          </a:p>
          <a:p>
            <a:pPr marL="228600" indent="-228600">
              <a:lnSpc>
                <a:spcPct val="90000"/>
              </a:lnSpc>
              <a:spcBef>
                <a:spcPts val="1800"/>
              </a:spcBef>
              <a:buClr>
                <a:schemeClr val="accent1">
                  <a:lumMod val="75000"/>
                </a:schemeClr>
              </a:buClr>
              <a:buSzPct val="100000"/>
              <a:buFont typeface="Arial" pitchFamily="34" charset="0"/>
              <a:buChar char="▪"/>
            </a:pPr>
            <a:r>
              <a:rPr lang="en-US" sz="1600" dirty="0">
                <a:solidFill>
                  <a:schemeClr val="accent1">
                    <a:lumMod val="75000"/>
                  </a:schemeClr>
                </a:solidFill>
                <a:latin typeface="+mj-lt"/>
                <a:ea typeface="+mj-ea"/>
                <a:cs typeface="+mj-cs"/>
              </a:rPr>
              <a:t>Success Criteria (1): Any outcome starting with "True" (ASDS, RTLS, Ocean).</a:t>
            </a:r>
          </a:p>
          <a:p>
            <a:pPr marL="228600" indent="-228600">
              <a:lnSpc>
                <a:spcPct val="90000"/>
              </a:lnSpc>
              <a:spcBef>
                <a:spcPts val="1800"/>
              </a:spcBef>
              <a:buClr>
                <a:schemeClr val="accent1">
                  <a:lumMod val="75000"/>
                </a:schemeClr>
              </a:buClr>
              <a:buSzPct val="100000"/>
              <a:buFont typeface="Arial" pitchFamily="34" charset="0"/>
              <a:buChar char="▪"/>
            </a:pPr>
            <a:r>
              <a:rPr lang="en-US" sz="1600" dirty="0">
                <a:solidFill>
                  <a:schemeClr val="accent1">
                    <a:lumMod val="75000"/>
                  </a:schemeClr>
                </a:solidFill>
                <a:latin typeface="+mj-lt"/>
                <a:ea typeface="+mj-ea"/>
                <a:cs typeface="+mj-cs"/>
              </a:rPr>
              <a:t>Failure Criteria (0): Any outcome starting with "False" or "None" (e.g., missed </a:t>
            </a:r>
            <a:r>
              <a:rPr lang="en-US" sz="1600" dirty="0" err="1">
                <a:solidFill>
                  <a:schemeClr val="accent1">
                    <a:lumMod val="75000"/>
                  </a:schemeClr>
                </a:solidFill>
                <a:latin typeface="+mj-lt"/>
                <a:ea typeface="+mj-ea"/>
                <a:cs typeface="+mj-cs"/>
              </a:rPr>
              <a:t>droneships</a:t>
            </a:r>
            <a:r>
              <a:rPr lang="en-US" sz="1600" dirty="0">
                <a:solidFill>
                  <a:schemeClr val="accent1">
                    <a:lumMod val="75000"/>
                  </a:schemeClr>
                </a:solidFill>
                <a:latin typeface="+mj-lt"/>
                <a:ea typeface="+mj-ea"/>
                <a:cs typeface="+mj-cs"/>
              </a:rPr>
              <a:t>, failed return-to-launch-site, or no hardware recovery attempt).</a:t>
            </a:r>
          </a:p>
        </p:txBody>
      </p:sp>
    </p:spTree>
    <p:extLst>
      <p:ext uri="{BB962C8B-B14F-4D97-AF65-F5344CB8AC3E}">
        <p14:creationId xmlns:p14="http://schemas.microsoft.com/office/powerpoint/2010/main" val="1622192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42FC3-33A3-3A0F-CAC0-D7723C61D44C}"/>
              </a:ext>
            </a:extLst>
          </p:cNvPr>
          <p:cNvSpPr>
            <a:spLocks noGrp="1"/>
          </p:cNvSpPr>
          <p:nvPr>
            <p:ph type="title"/>
          </p:nvPr>
        </p:nvSpPr>
        <p:spPr/>
        <p:txBody>
          <a:bodyPr/>
          <a:lstStyle/>
          <a:p>
            <a:r>
              <a:rPr lang="en-US" dirty="0"/>
              <a:t>EDA with Data Visualization</a:t>
            </a:r>
          </a:p>
        </p:txBody>
      </p:sp>
      <p:sp>
        <p:nvSpPr>
          <p:cNvPr id="4" name="TextBox 3">
            <a:extLst>
              <a:ext uri="{FF2B5EF4-FFF2-40B4-BE49-F238E27FC236}">
                <a16:creationId xmlns:a16="http://schemas.microsoft.com/office/drawing/2014/main" id="{D00F17B2-CE95-BBF1-5AAF-2DEA696A8352}"/>
              </a:ext>
            </a:extLst>
          </p:cNvPr>
          <p:cNvSpPr txBox="1"/>
          <p:nvPr/>
        </p:nvSpPr>
        <p:spPr>
          <a:xfrm>
            <a:off x="1295400" y="1901827"/>
            <a:ext cx="7860030" cy="2800767"/>
          </a:xfrm>
          <a:prstGeom prst="rect">
            <a:avLst/>
          </a:prstGeom>
          <a:noFill/>
        </p:spPr>
        <p:txBody>
          <a:bodyPr wrap="square">
            <a:spAutoFit/>
          </a:bodyPr>
          <a:lstStyle/>
          <a:p>
            <a:pPr marL="285750" indent="-285750">
              <a:buFont typeface="Arial" panose="020B0604020202020204" pitchFamily="34" charset="0"/>
              <a:buChar char="•"/>
            </a:pPr>
            <a:r>
              <a:rPr lang="en-US" sz="1600" dirty="0">
                <a:solidFill>
                  <a:schemeClr val="accent1">
                    <a:lumMod val="75000"/>
                  </a:schemeClr>
                </a:solidFill>
                <a:latin typeface="+mj-lt"/>
                <a:ea typeface="+mj-ea"/>
                <a:cs typeface="+mj-cs"/>
              </a:rPr>
              <a:t>EDA Scope: Evaluated 6 key variables (Flight Number, Payload Mass, Launch Site, Orbit, Class, Year).</a:t>
            </a:r>
          </a:p>
          <a:p>
            <a:pPr marL="285750" indent="-285750">
              <a:buFont typeface="Arial" panose="020B0604020202020204" pitchFamily="34" charset="0"/>
              <a:buChar char="•"/>
            </a:pPr>
            <a:endParaRPr lang="en-US" sz="1600" dirty="0">
              <a:solidFill>
                <a:schemeClr val="accent1">
                  <a:lumMod val="75000"/>
                </a:schemeClr>
              </a:solidFill>
              <a:latin typeface="+mj-lt"/>
              <a:ea typeface="+mj-ea"/>
              <a:cs typeface="+mj-cs"/>
            </a:endParaRPr>
          </a:p>
          <a:p>
            <a:pPr marL="285750" indent="-285750">
              <a:buFont typeface="Arial" panose="020B0604020202020204" pitchFamily="34" charset="0"/>
              <a:buChar char="•"/>
            </a:pPr>
            <a:r>
              <a:rPr lang="en-US" sz="1600" dirty="0">
                <a:solidFill>
                  <a:schemeClr val="accent1">
                    <a:lumMod val="75000"/>
                  </a:schemeClr>
                </a:solidFill>
                <a:latin typeface="+mj-lt"/>
                <a:ea typeface="+mj-ea"/>
                <a:cs typeface="+mj-cs"/>
              </a:rPr>
              <a:t>Visual Toolbox: Used scatter plots, line charts, and bar plots to cross-reference data.</a:t>
            </a:r>
          </a:p>
          <a:p>
            <a:pPr marL="285750" indent="-285750">
              <a:buFont typeface="Arial" panose="020B0604020202020204" pitchFamily="34" charset="0"/>
              <a:buChar char="•"/>
            </a:pPr>
            <a:endParaRPr lang="en-US" sz="1600" dirty="0">
              <a:solidFill>
                <a:schemeClr val="accent1">
                  <a:lumMod val="75000"/>
                </a:schemeClr>
              </a:solidFill>
              <a:latin typeface="+mj-lt"/>
              <a:ea typeface="+mj-ea"/>
              <a:cs typeface="+mj-cs"/>
            </a:endParaRPr>
          </a:p>
          <a:p>
            <a:pPr marL="285750" indent="-285750">
              <a:buFont typeface="Arial" panose="020B0604020202020204" pitchFamily="34" charset="0"/>
              <a:buChar char="•"/>
            </a:pPr>
            <a:r>
              <a:rPr lang="en-US" sz="1600" dirty="0">
                <a:solidFill>
                  <a:schemeClr val="accent1">
                    <a:lumMod val="75000"/>
                  </a:schemeClr>
                </a:solidFill>
                <a:latin typeface="+mj-lt"/>
                <a:ea typeface="+mj-ea"/>
                <a:cs typeface="+mj-cs"/>
              </a:rPr>
              <a:t>Goal: Spot meaningful patterns to determine which features are viable for machine learning training.</a:t>
            </a:r>
          </a:p>
          <a:p>
            <a:pPr marL="285750" indent="-285750">
              <a:buFont typeface="Arial" panose="020B0604020202020204" pitchFamily="34" charset="0"/>
              <a:buChar char="•"/>
            </a:pPr>
            <a:endParaRPr lang="en-US" sz="1600" dirty="0">
              <a:solidFill>
                <a:schemeClr val="accent1">
                  <a:lumMod val="75000"/>
                </a:schemeClr>
              </a:solidFill>
              <a:latin typeface="+mj-lt"/>
              <a:ea typeface="+mj-ea"/>
              <a:cs typeface="+mj-cs"/>
            </a:endParaRPr>
          </a:p>
          <a:p>
            <a:pPr marL="285750" indent="-285750">
              <a:buFont typeface="Arial" panose="020B0604020202020204" pitchFamily="34" charset="0"/>
              <a:buChar char="•"/>
            </a:pPr>
            <a:r>
              <a:rPr lang="en-US" sz="1600" dirty="0">
                <a:solidFill>
                  <a:schemeClr val="accent1">
                    <a:lumMod val="75000"/>
                  </a:schemeClr>
                </a:solidFill>
                <a:latin typeface="+mj-lt"/>
                <a:ea typeface="+mj-ea"/>
                <a:cs typeface="+mj-cs"/>
              </a:rPr>
              <a:t>Core Plots: Built 7 distinct visualizations covering payload trends, launch site histories, orbital success rates, and yearly performance progression.</a:t>
            </a:r>
          </a:p>
        </p:txBody>
      </p:sp>
    </p:spTree>
    <p:extLst>
      <p:ext uri="{BB962C8B-B14F-4D97-AF65-F5344CB8AC3E}">
        <p14:creationId xmlns:p14="http://schemas.microsoft.com/office/powerpoint/2010/main" val="3916789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6233FA-2C4C-3B5D-B58D-9D7B54F57AFE}"/>
              </a:ext>
            </a:extLst>
          </p:cNvPr>
          <p:cNvSpPr>
            <a:spLocks noGrp="1"/>
          </p:cNvSpPr>
          <p:nvPr>
            <p:ph type="title"/>
          </p:nvPr>
        </p:nvSpPr>
        <p:spPr/>
        <p:txBody>
          <a:bodyPr/>
          <a:lstStyle/>
          <a:p>
            <a:r>
              <a:rPr lang="en-US" dirty="0"/>
              <a:t>Flight Number VS Launch Site</a:t>
            </a:r>
          </a:p>
        </p:txBody>
      </p:sp>
      <p:sp>
        <p:nvSpPr>
          <p:cNvPr id="3" name="object 7">
            <a:extLst>
              <a:ext uri="{FF2B5EF4-FFF2-40B4-BE49-F238E27FC236}">
                <a16:creationId xmlns:a16="http://schemas.microsoft.com/office/drawing/2014/main" id="{227F89DB-562B-73CB-92A0-2C6AB73D1055}"/>
              </a:ext>
            </a:extLst>
          </p:cNvPr>
          <p:cNvSpPr/>
          <p:nvPr/>
        </p:nvSpPr>
        <p:spPr>
          <a:xfrm>
            <a:off x="45720" y="1826102"/>
            <a:ext cx="12100560" cy="2377440"/>
          </a:xfrm>
          <a:prstGeom prst="rect">
            <a:avLst/>
          </a:prstGeom>
          <a:blipFill>
            <a:blip r:embed="rId2" cstate="print"/>
            <a:stretch>
              <a:fillRect/>
            </a:stretch>
          </a:blipFill>
        </p:spPr>
        <p:txBody>
          <a:bodyPr wrap="square" lIns="0" tIns="0" rIns="0" bIns="0" rtlCol="0"/>
          <a:lstStyle/>
          <a:p>
            <a:endParaRPr/>
          </a:p>
        </p:txBody>
      </p:sp>
      <p:sp>
        <p:nvSpPr>
          <p:cNvPr id="4" name="object 8">
            <a:extLst>
              <a:ext uri="{FF2B5EF4-FFF2-40B4-BE49-F238E27FC236}">
                <a16:creationId xmlns:a16="http://schemas.microsoft.com/office/drawing/2014/main" id="{D126C541-F599-BCE2-CC7D-50D79C79509D}"/>
              </a:ext>
            </a:extLst>
          </p:cNvPr>
          <p:cNvSpPr txBox="1"/>
          <p:nvPr/>
        </p:nvSpPr>
        <p:spPr>
          <a:xfrm>
            <a:off x="977900" y="4346194"/>
            <a:ext cx="9711436" cy="504625"/>
          </a:xfrm>
          <a:prstGeom prst="rect">
            <a:avLst/>
          </a:prstGeom>
        </p:spPr>
        <p:txBody>
          <a:bodyPr vert="horz" wrap="square" lIns="0" tIns="12065" rIns="0" bIns="0" rtlCol="0">
            <a:spAutoFit/>
          </a:bodyPr>
          <a:lstStyle/>
          <a:p>
            <a:pPr marL="12700">
              <a:lnSpc>
                <a:spcPct val="100000"/>
              </a:lnSpc>
              <a:spcBef>
                <a:spcPts val="95"/>
              </a:spcBef>
            </a:pPr>
            <a:r>
              <a:rPr sz="1600" dirty="0">
                <a:solidFill>
                  <a:schemeClr val="accent1">
                    <a:lumMod val="75000"/>
                  </a:schemeClr>
                </a:solidFill>
                <a:latin typeface="+mj-lt"/>
                <a:ea typeface="+mj-ea"/>
                <a:cs typeface="+mj-cs"/>
              </a:rPr>
              <a:t>Green indicates successful launch; Purple indicates unsuccessful launch</a:t>
            </a:r>
            <a:r>
              <a:rPr lang="en-US" sz="1600" dirty="0">
                <a:solidFill>
                  <a:schemeClr val="accent1">
                    <a:lumMod val="75000"/>
                  </a:schemeClr>
                </a:solidFill>
                <a:latin typeface="+mj-lt"/>
                <a:ea typeface="+mj-ea"/>
                <a:cs typeface="+mj-cs"/>
              </a:rPr>
              <a:t>. Graphics suggest an increase in success rate over time (indicated in Flight Number). </a:t>
            </a:r>
            <a:endParaRPr sz="1600" dirty="0">
              <a:solidFill>
                <a:schemeClr val="accent1">
                  <a:lumMod val="75000"/>
                </a:schemeClr>
              </a:solidFill>
              <a:latin typeface="+mj-lt"/>
              <a:ea typeface="+mj-ea"/>
              <a:cs typeface="+mj-cs"/>
            </a:endParaRPr>
          </a:p>
        </p:txBody>
      </p:sp>
    </p:spTree>
    <p:extLst>
      <p:ext uri="{BB962C8B-B14F-4D97-AF65-F5344CB8AC3E}">
        <p14:creationId xmlns:p14="http://schemas.microsoft.com/office/powerpoint/2010/main" val="2851392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D8F2CE-64E1-5D00-9722-FBD6153FAF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41232-98C7-D8B6-FC78-DE4DFA87E62B}"/>
              </a:ext>
            </a:extLst>
          </p:cNvPr>
          <p:cNvSpPr>
            <a:spLocks noGrp="1"/>
          </p:cNvSpPr>
          <p:nvPr>
            <p:ph type="title"/>
          </p:nvPr>
        </p:nvSpPr>
        <p:spPr/>
        <p:txBody>
          <a:bodyPr/>
          <a:lstStyle/>
          <a:p>
            <a:r>
              <a:rPr lang="en-US" dirty="0"/>
              <a:t>Payload  VS Launch Site</a:t>
            </a:r>
          </a:p>
        </p:txBody>
      </p:sp>
      <p:sp>
        <p:nvSpPr>
          <p:cNvPr id="4" name="object 8">
            <a:extLst>
              <a:ext uri="{FF2B5EF4-FFF2-40B4-BE49-F238E27FC236}">
                <a16:creationId xmlns:a16="http://schemas.microsoft.com/office/drawing/2014/main" id="{CF2635F7-E6F4-3D78-C27F-59B5057A2603}"/>
              </a:ext>
            </a:extLst>
          </p:cNvPr>
          <p:cNvSpPr txBox="1"/>
          <p:nvPr/>
        </p:nvSpPr>
        <p:spPr>
          <a:xfrm>
            <a:off x="977900" y="4346194"/>
            <a:ext cx="9711436" cy="258404"/>
          </a:xfrm>
          <a:prstGeom prst="rect">
            <a:avLst/>
          </a:prstGeom>
        </p:spPr>
        <p:txBody>
          <a:bodyPr vert="horz" wrap="square" lIns="0" tIns="12065" rIns="0" bIns="0" rtlCol="0">
            <a:spAutoFit/>
          </a:bodyPr>
          <a:lstStyle/>
          <a:p>
            <a:pPr marL="12700">
              <a:lnSpc>
                <a:spcPct val="100000"/>
              </a:lnSpc>
              <a:spcBef>
                <a:spcPts val="95"/>
              </a:spcBef>
            </a:pPr>
            <a:r>
              <a:rPr sz="1600" dirty="0">
                <a:solidFill>
                  <a:schemeClr val="accent1">
                    <a:lumMod val="75000"/>
                  </a:schemeClr>
                </a:solidFill>
                <a:latin typeface="+mj-lt"/>
                <a:ea typeface="+mj-ea"/>
                <a:cs typeface="+mj-cs"/>
              </a:rPr>
              <a:t>Green indicates</a:t>
            </a:r>
            <a:r>
              <a:rPr lang="en-US" sz="1600" dirty="0">
                <a:solidFill>
                  <a:schemeClr val="accent1">
                    <a:lumMod val="75000"/>
                  </a:schemeClr>
                </a:solidFill>
                <a:latin typeface="+mj-lt"/>
                <a:ea typeface="+mj-ea"/>
                <a:cs typeface="+mj-cs"/>
              </a:rPr>
              <a:t> successful launch; Purple indicates unsuccessful launch. </a:t>
            </a:r>
            <a:endParaRPr sz="1600" dirty="0">
              <a:solidFill>
                <a:schemeClr val="accent1">
                  <a:lumMod val="75000"/>
                </a:schemeClr>
              </a:solidFill>
              <a:latin typeface="+mj-lt"/>
              <a:ea typeface="+mj-ea"/>
              <a:cs typeface="+mj-cs"/>
            </a:endParaRPr>
          </a:p>
        </p:txBody>
      </p:sp>
      <p:sp>
        <p:nvSpPr>
          <p:cNvPr id="5" name="object 7">
            <a:extLst>
              <a:ext uri="{FF2B5EF4-FFF2-40B4-BE49-F238E27FC236}">
                <a16:creationId xmlns:a16="http://schemas.microsoft.com/office/drawing/2014/main" id="{76E1CA1B-1033-50F5-D9E6-59B78B00A00C}"/>
              </a:ext>
            </a:extLst>
          </p:cNvPr>
          <p:cNvSpPr/>
          <p:nvPr/>
        </p:nvSpPr>
        <p:spPr>
          <a:xfrm>
            <a:off x="39623" y="1653539"/>
            <a:ext cx="12100560" cy="2377439"/>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7423415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7819D-B1C9-F7B0-BB7E-B42E7CC687F2}"/>
              </a:ext>
            </a:extLst>
          </p:cNvPr>
          <p:cNvSpPr>
            <a:spLocks noGrp="1"/>
          </p:cNvSpPr>
          <p:nvPr>
            <p:ph type="title"/>
          </p:nvPr>
        </p:nvSpPr>
        <p:spPr/>
        <p:txBody>
          <a:bodyPr/>
          <a:lstStyle/>
          <a:p>
            <a:r>
              <a:rPr lang="en-US" dirty="0"/>
              <a:t>Success Rate vs Orbit Type</a:t>
            </a:r>
          </a:p>
        </p:txBody>
      </p:sp>
      <p:sp>
        <p:nvSpPr>
          <p:cNvPr id="3" name="object 7">
            <a:extLst>
              <a:ext uri="{FF2B5EF4-FFF2-40B4-BE49-F238E27FC236}">
                <a16:creationId xmlns:a16="http://schemas.microsoft.com/office/drawing/2014/main" id="{793436B9-484C-D55A-7F11-685D35ABD07B}"/>
              </a:ext>
            </a:extLst>
          </p:cNvPr>
          <p:cNvSpPr/>
          <p:nvPr/>
        </p:nvSpPr>
        <p:spPr>
          <a:xfrm>
            <a:off x="4943856" y="1600836"/>
            <a:ext cx="5430011" cy="3514344"/>
          </a:xfrm>
          <a:prstGeom prst="rect">
            <a:avLst/>
          </a:prstGeom>
          <a:blipFill>
            <a:blip r:embed="rId2" cstate="print"/>
            <a:stretch>
              <a:fillRect/>
            </a:stretch>
          </a:blipFill>
        </p:spPr>
        <p:txBody>
          <a:bodyPr wrap="square" lIns="0" tIns="0" rIns="0" bIns="0" rtlCol="0"/>
          <a:lstStyle/>
          <a:p>
            <a:endParaRPr/>
          </a:p>
        </p:txBody>
      </p:sp>
      <p:sp>
        <p:nvSpPr>
          <p:cNvPr id="4" name="object 8">
            <a:extLst>
              <a:ext uri="{FF2B5EF4-FFF2-40B4-BE49-F238E27FC236}">
                <a16:creationId xmlns:a16="http://schemas.microsoft.com/office/drawing/2014/main" id="{8E5CF654-D62E-07A8-9226-436FC73AC77B}"/>
              </a:ext>
            </a:extLst>
          </p:cNvPr>
          <p:cNvSpPr txBox="1"/>
          <p:nvPr/>
        </p:nvSpPr>
        <p:spPr>
          <a:xfrm>
            <a:off x="2688336" y="4453598"/>
            <a:ext cx="2404872" cy="1074653"/>
          </a:xfrm>
          <a:prstGeom prst="rect">
            <a:avLst/>
          </a:prstGeom>
        </p:spPr>
        <p:txBody>
          <a:bodyPr vert="horz" wrap="square" lIns="0" tIns="12700" rIns="0" bIns="0" rtlCol="0">
            <a:spAutoFit/>
          </a:bodyPr>
          <a:lstStyle/>
          <a:p>
            <a:pPr marL="12700" marR="5080">
              <a:lnSpc>
                <a:spcPct val="100000"/>
              </a:lnSpc>
              <a:spcBef>
                <a:spcPts val="565"/>
              </a:spcBef>
            </a:pPr>
            <a:r>
              <a:rPr sz="1600" dirty="0">
                <a:solidFill>
                  <a:schemeClr val="accent1">
                    <a:lumMod val="75000"/>
                  </a:schemeClr>
                </a:solidFill>
                <a:latin typeface="+mj-lt"/>
                <a:ea typeface="+mj-ea"/>
                <a:cs typeface="+mj-cs"/>
              </a:rPr>
              <a:t>Success Rate Scale with  0 as 0%</a:t>
            </a:r>
          </a:p>
          <a:p>
            <a:pPr marL="12700" marR="1182370">
              <a:lnSpc>
                <a:spcPct val="100000"/>
              </a:lnSpc>
              <a:spcBef>
                <a:spcPts val="565"/>
              </a:spcBef>
            </a:pPr>
            <a:r>
              <a:rPr sz="1600" dirty="0">
                <a:solidFill>
                  <a:schemeClr val="accent1">
                    <a:lumMod val="75000"/>
                  </a:schemeClr>
                </a:solidFill>
                <a:latin typeface="+mj-lt"/>
                <a:ea typeface="+mj-ea"/>
                <a:cs typeface="+mj-cs"/>
              </a:rPr>
              <a:t>0.6 as 60%  1 as 100%</a:t>
            </a:r>
          </a:p>
        </p:txBody>
      </p:sp>
      <p:sp>
        <p:nvSpPr>
          <p:cNvPr id="5" name="object 6">
            <a:extLst>
              <a:ext uri="{FF2B5EF4-FFF2-40B4-BE49-F238E27FC236}">
                <a16:creationId xmlns:a16="http://schemas.microsoft.com/office/drawing/2014/main" id="{D935B214-150A-FC4A-F96B-CBF3BF262F13}"/>
              </a:ext>
            </a:extLst>
          </p:cNvPr>
          <p:cNvSpPr txBox="1"/>
          <p:nvPr/>
        </p:nvSpPr>
        <p:spPr>
          <a:xfrm>
            <a:off x="894384" y="2107971"/>
            <a:ext cx="4198824" cy="2149306"/>
          </a:xfrm>
          <a:prstGeom prst="rect">
            <a:avLst/>
          </a:prstGeom>
        </p:spPr>
        <p:txBody>
          <a:bodyPr vert="horz" wrap="square" lIns="0" tIns="12700" rIns="0" bIns="0" rtlCol="0">
            <a:spAutoFit/>
          </a:bodyPr>
          <a:lstStyle/>
          <a:p>
            <a:pPr marL="12700" marR="5080">
              <a:spcBef>
                <a:spcPts val="100"/>
              </a:spcBef>
            </a:pPr>
            <a:r>
              <a:rPr sz="1600" dirty="0">
                <a:solidFill>
                  <a:schemeClr val="accent1">
                    <a:lumMod val="75000"/>
                  </a:schemeClr>
                </a:solidFill>
                <a:latin typeface="+mj-lt"/>
                <a:ea typeface="+mj-ea"/>
                <a:cs typeface="+mj-cs"/>
              </a:rPr>
              <a:t>ES-L1 (1), GEO (1), HEO (1) have 100% success rate (sample sizes in parenthesis)  SSO (5) has 100% success rate</a:t>
            </a:r>
          </a:p>
          <a:p>
            <a:pPr marL="12700">
              <a:spcBef>
                <a:spcPts val="250"/>
              </a:spcBef>
            </a:pPr>
            <a:r>
              <a:rPr sz="1600" dirty="0">
                <a:solidFill>
                  <a:schemeClr val="accent1">
                    <a:lumMod val="75000"/>
                  </a:schemeClr>
                </a:solidFill>
                <a:latin typeface="+mj-lt"/>
                <a:ea typeface="+mj-ea"/>
                <a:cs typeface="+mj-cs"/>
              </a:rPr>
              <a:t>VLEO (14) has decent success rate and attempts</a:t>
            </a:r>
          </a:p>
          <a:p>
            <a:pPr marL="12700">
              <a:spcBef>
                <a:spcPts val="395"/>
              </a:spcBef>
            </a:pPr>
            <a:r>
              <a:rPr sz="1600" dirty="0">
                <a:solidFill>
                  <a:schemeClr val="accent1">
                    <a:lumMod val="75000"/>
                  </a:schemeClr>
                </a:solidFill>
                <a:latin typeface="+mj-lt"/>
                <a:ea typeface="+mj-ea"/>
                <a:cs typeface="+mj-cs"/>
              </a:rPr>
              <a:t>SO (1) has 0% success rate</a:t>
            </a:r>
          </a:p>
          <a:p>
            <a:pPr marL="12700">
              <a:spcBef>
                <a:spcPts val="565"/>
              </a:spcBef>
            </a:pPr>
            <a:r>
              <a:rPr sz="1600" dirty="0">
                <a:solidFill>
                  <a:schemeClr val="accent1">
                    <a:lumMod val="75000"/>
                  </a:schemeClr>
                </a:solidFill>
                <a:latin typeface="+mj-lt"/>
                <a:ea typeface="+mj-ea"/>
                <a:cs typeface="+mj-cs"/>
              </a:rPr>
              <a:t>GTO (27) has the around 50% success rate but largest sample</a:t>
            </a:r>
          </a:p>
        </p:txBody>
      </p:sp>
    </p:spTree>
    <p:extLst>
      <p:ext uri="{BB962C8B-B14F-4D97-AF65-F5344CB8AC3E}">
        <p14:creationId xmlns:p14="http://schemas.microsoft.com/office/powerpoint/2010/main" val="151616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7CD0A-346D-3CC3-B07F-9ADF8D271C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DCDFF-FD64-C05D-1D56-6B0883F18E95}"/>
              </a:ext>
            </a:extLst>
          </p:cNvPr>
          <p:cNvSpPr>
            <a:spLocks noGrp="1"/>
          </p:cNvSpPr>
          <p:nvPr>
            <p:ph type="title"/>
          </p:nvPr>
        </p:nvSpPr>
        <p:spPr/>
        <p:txBody>
          <a:bodyPr/>
          <a:lstStyle/>
          <a:p>
            <a:r>
              <a:rPr lang="en-US" dirty="0"/>
              <a:t>Flight Number  VS Orbit type </a:t>
            </a:r>
          </a:p>
        </p:txBody>
      </p:sp>
      <p:sp>
        <p:nvSpPr>
          <p:cNvPr id="4" name="object 8">
            <a:extLst>
              <a:ext uri="{FF2B5EF4-FFF2-40B4-BE49-F238E27FC236}">
                <a16:creationId xmlns:a16="http://schemas.microsoft.com/office/drawing/2014/main" id="{6B657857-9341-4474-A33A-A22BB2078734}"/>
              </a:ext>
            </a:extLst>
          </p:cNvPr>
          <p:cNvSpPr txBox="1"/>
          <p:nvPr/>
        </p:nvSpPr>
        <p:spPr>
          <a:xfrm>
            <a:off x="977900" y="4346194"/>
            <a:ext cx="9711436" cy="258404"/>
          </a:xfrm>
          <a:prstGeom prst="rect">
            <a:avLst/>
          </a:prstGeom>
        </p:spPr>
        <p:txBody>
          <a:bodyPr vert="horz" wrap="square" lIns="0" tIns="12065" rIns="0" bIns="0" rtlCol="0">
            <a:spAutoFit/>
          </a:bodyPr>
          <a:lstStyle/>
          <a:p>
            <a:pPr marL="12700">
              <a:lnSpc>
                <a:spcPct val="100000"/>
              </a:lnSpc>
              <a:spcBef>
                <a:spcPts val="95"/>
              </a:spcBef>
            </a:pPr>
            <a:r>
              <a:rPr sz="1600" dirty="0">
                <a:solidFill>
                  <a:schemeClr val="accent1">
                    <a:lumMod val="75000"/>
                  </a:schemeClr>
                </a:solidFill>
                <a:latin typeface="+mj-lt"/>
                <a:ea typeface="+mj-ea"/>
                <a:cs typeface="+mj-cs"/>
              </a:rPr>
              <a:t>Green indicates</a:t>
            </a:r>
            <a:r>
              <a:rPr lang="en-US" sz="1600" dirty="0">
                <a:solidFill>
                  <a:schemeClr val="accent1">
                    <a:lumMod val="75000"/>
                  </a:schemeClr>
                </a:solidFill>
                <a:latin typeface="+mj-lt"/>
                <a:ea typeface="+mj-ea"/>
                <a:cs typeface="+mj-cs"/>
              </a:rPr>
              <a:t> successful launch; Purple indicates unsuccessful launch. </a:t>
            </a:r>
            <a:endParaRPr sz="1600" dirty="0">
              <a:solidFill>
                <a:schemeClr val="accent1">
                  <a:lumMod val="75000"/>
                </a:schemeClr>
              </a:solidFill>
              <a:latin typeface="+mj-lt"/>
              <a:ea typeface="+mj-ea"/>
              <a:cs typeface="+mj-cs"/>
            </a:endParaRPr>
          </a:p>
        </p:txBody>
      </p:sp>
      <p:sp>
        <p:nvSpPr>
          <p:cNvPr id="3" name="object 7">
            <a:extLst>
              <a:ext uri="{FF2B5EF4-FFF2-40B4-BE49-F238E27FC236}">
                <a16:creationId xmlns:a16="http://schemas.microsoft.com/office/drawing/2014/main" id="{8531FD96-08B3-F23F-A008-9C6CDE8A0601}"/>
              </a:ext>
            </a:extLst>
          </p:cNvPr>
          <p:cNvSpPr/>
          <p:nvPr/>
        </p:nvSpPr>
        <p:spPr>
          <a:xfrm>
            <a:off x="48768" y="1600200"/>
            <a:ext cx="12094464" cy="2375916"/>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366656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F6EFA-79B6-8C95-50A5-046EA79335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3FA319-CB2A-CFD4-C586-3D949D208CD9}"/>
              </a:ext>
            </a:extLst>
          </p:cNvPr>
          <p:cNvSpPr>
            <a:spLocks noGrp="1"/>
          </p:cNvSpPr>
          <p:nvPr>
            <p:ph type="title"/>
          </p:nvPr>
        </p:nvSpPr>
        <p:spPr/>
        <p:txBody>
          <a:bodyPr/>
          <a:lstStyle/>
          <a:p>
            <a:r>
              <a:rPr lang="en-US" dirty="0"/>
              <a:t>Payload  VS Orbit type </a:t>
            </a:r>
          </a:p>
        </p:txBody>
      </p:sp>
      <p:sp>
        <p:nvSpPr>
          <p:cNvPr id="4" name="object 8">
            <a:extLst>
              <a:ext uri="{FF2B5EF4-FFF2-40B4-BE49-F238E27FC236}">
                <a16:creationId xmlns:a16="http://schemas.microsoft.com/office/drawing/2014/main" id="{302CE1BA-4CE8-907C-877F-F1A097C2ED90}"/>
              </a:ext>
            </a:extLst>
          </p:cNvPr>
          <p:cNvSpPr txBox="1"/>
          <p:nvPr/>
        </p:nvSpPr>
        <p:spPr>
          <a:xfrm>
            <a:off x="977900" y="4346194"/>
            <a:ext cx="9711436" cy="258404"/>
          </a:xfrm>
          <a:prstGeom prst="rect">
            <a:avLst/>
          </a:prstGeom>
        </p:spPr>
        <p:txBody>
          <a:bodyPr vert="horz" wrap="square" lIns="0" tIns="12065" rIns="0" bIns="0" rtlCol="0">
            <a:spAutoFit/>
          </a:bodyPr>
          <a:lstStyle/>
          <a:p>
            <a:pPr marL="12700">
              <a:lnSpc>
                <a:spcPct val="100000"/>
              </a:lnSpc>
              <a:spcBef>
                <a:spcPts val="95"/>
              </a:spcBef>
            </a:pPr>
            <a:r>
              <a:rPr sz="1600" dirty="0">
                <a:solidFill>
                  <a:schemeClr val="accent1">
                    <a:lumMod val="75000"/>
                  </a:schemeClr>
                </a:solidFill>
                <a:latin typeface="+mj-lt"/>
                <a:ea typeface="+mj-ea"/>
                <a:cs typeface="+mj-cs"/>
              </a:rPr>
              <a:t>Green indicates</a:t>
            </a:r>
            <a:r>
              <a:rPr lang="en-US" sz="1600" dirty="0">
                <a:solidFill>
                  <a:schemeClr val="accent1">
                    <a:lumMod val="75000"/>
                  </a:schemeClr>
                </a:solidFill>
                <a:latin typeface="+mj-lt"/>
                <a:ea typeface="+mj-ea"/>
                <a:cs typeface="+mj-cs"/>
              </a:rPr>
              <a:t> successful launch; Purple indicates unsuccessful launch. </a:t>
            </a:r>
            <a:endParaRPr sz="1600" dirty="0">
              <a:solidFill>
                <a:schemeClr val="accent1">
                  <a:lumMod val="75000"/>
                </a:schemeClr>
              </a:solidFill>
              <a:latin typeface="+mj-lt"/>
              <a:ea typeface="+mj-ea"/>
              <a:cs typeface="+mj-cs"/>
            </a:endParaRPr>
          </a:p>
        </p:txBody>
      </p:sp>
      <p:sp>
        <p:nvSpPr>
          <p:cNvPr id="5" name="object 7">
            <a:extLst>
              <a:ext uri="{FF2B5EF4-FFF2-40B4-BE49-F238E27FC236}">
                <a16:creationId xmlns:a16="http://schemas.microsoft.com/office/drawing/2014/main" id="{B106B783-251E-1205-DB4D-CD8A763DF92D}"/>
              </a:ext>
            </a:extLst>
          </p:cNvPr>
          <p:cNvSpPr/>
          <p:nvPr/>
        </p:nvSpPr>
        <p:spPr>
          <a:xfrm>
            <a:off x="45719" y="1615439"/>
            <a:ext cx="12094464" cy="2375916"/>
          </a:xfrm>
          <a:prstGeom prst="rect">
            <a:avLst/>
          </a:prstGeom>
          <a:blipFill>
            <a:blip r:embed="rId2" cstate="print"/>
            <a:stretch>
              <a:fillRect/>
            </a:stretch>
          </a:blipFill>
        </p:spPr>
        <p:txBody>
          <a:bodyPr wrap="square" lIns="0" tIns="0" rIns="0" bIns="0" rtlCol="0"/>
          <a:lstStyle/>
          <a:p>
            <a:endParaRPr/>
          </a:p>
        </p:txBody>
      </p:sp>
      <p:sp>
        <p:nvSpPr>
          <p:cNvPr id="7" name="object 6">
            <a:extLst>
              <a:ext uri="{FF2B5EF4-FFF2-40B4-BE49-F238E27FC236}">
                <a16:creationId xmlns:a16="http://schemas.microsoft.com/office/drawing/2014/main" id="{DE200C4F-9617-FFF7-B049-D054A098372E}"/>
              </a:ext>
            </a:extLst>
          </p:cNvPr>
          <p:cNvSpPr txBox="1"/>
          <p:nvPr/>
        </p:nvSpPr>
        <p:spPr>
          <a:xfrm>
            <a:off x="977900" y="4779009"/>
            <a:ext cx="7989570" cy="1150956"/>
          </a:xfrm>
          <a:prstGeom prst="rect">
            <a:avLst/>
          </a:prstGeom>
        </p:spPr>
        <p:txBody>
          <a:bodyPr vert="horz" wrap="square" lIns="0" tIns="62865" rIns="0" bIns="0" rtlCol="0">
            <a:spAutoFit/>
          </a:bodyPr>
          <a:lstStyle/>
          <a:p>
            <a:pPr marL="12700">
              <a:lnSpc>
                <a:spcPct val="100000"/>
              </a:lnSpc>
              <a:spcBef>
                <a:spcPts val="495"/>
              </a:spcBef>
            </a:pPr>
            <a:r>
              <a:rPr sz="1600" dirty="0">
                <a:solidFill>
                  <a:schemeClr val="accent1">
                    <a:lumMod val="75000"/>
                  </a:schemeClr>
                </a:solidFill>
                <a:latin typeface="+mj-lt"/>
                <a:ea typeface="+mj-ea"/>
                <a:cs typeface="+mj-cs"/>
              </a:rPr>
              <a:t>Payload mass seems to correlate with orbit</a:t>
            </a:r>
          </a:p>
          <a:p>
            <a:pPr marL="12700">
              <a:lnSpc>
                <a:spcPct val="100000"/>
              </a:lnSpc>
              <a:spcBef>
                <a:spcPts val="395"/>
              </a:spcBef>
            </a:pPr>
            <a:r>
              <a:rPr sz="1600" dirty="0">
                <a:solidFill>
                  <a:schemeClr val="accent1">
                    <a:lumMod val="75000"/>
                  </a:schemeClr>
                </a:solidFill>
                <a:latin typeface="+mj-lt"/>
                <a:ea typeface="+mj-ea"/>
                <a:cs typeface="+mj-cs"/>
              </a:rPr>
              <a:t>LEO and SSO seem to have relatively low payload mass</a:t>
            </a:r>
          </a:p>
          <a:p>
            <a:pPr marL="12700">
              <a:lnSpc>
                <a:spcPct val="100000"/>
              </a:lnSpc>
              <a:spcBef>
                <a:spcPts val="409"/>
              </a:spcBef>
            </a:pPr>
            <a:r>
              <a:rPr sz="1600" dirty="0">
                <a:solidFill>
                  <a:schemeClr val="accent1">
                    <a:lumMod val="75000"/>
                  </a:schemeClr>
                </a:solidFill>
                <a:latin typeface="+mj-lt"/>
                <a:ea typeface="+mj-ea"/>
                <a:cs typeface="+mj-cs"/>
              </a:rPr>
              <a:t>The other most successful orbit VLEO only has payload mass values in the higher end of the range</a:t>
            </a:r>
          </a:p>
        </p:txBody>
      </p:sp>
    </p:spTree>
    <p:extLst>
      <p:ext uri="{BB962C8B-B14F-4D97-AF65-F5344CB8AC3E}">
        <p14:creationId xmlns:p14="http://schemas.microsoft.com/office/powerpoint/2010/main" val="321537304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94902-22FA-98F0-D592-89E16E52DA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EC51D6-ABBC-7278-E308-6715F457BF1A}"/>
              </a:ext>
            </a:extLst>
          </p:cNvPr>
          <p:cNvSpPr>
            <a:spLocks noGrp="1"/>
          </p:cNvSpPr>
          <p:nvPr>
            <p:ph type="title"/>
          </p:nvPr>
        </p:nvSpPr>
        <p:spPr/>
        <p:txBody>
          <a:bodyPr/>
          <a:lstStyle/>
          <a:p>
            <a:r>
              <a:rPr lang="en-US" dirty="0"/>
              <a:t>Launch Success Yearly Trend</a:t>
            </a:r>
          </a:p>
        </p:txBody>
      </p:sp>
      <p:sp>
        <p:nvSpPr>
          <p:cNvPr id="4" name="object 8">
            <a:extLst>
              <a:ext uri="{FF2B5EF4-FFF2-40B4-BE49-F238E27FC236}">
                <a16:creationId xmlns:a16="http://schemas.microsoft.com/office/drawing/2014/main" id="{4411C9E1-0936-B607-2AC3-9377E68BC1CC}"/>
              </a:ext>
            </a:extLst>
          </p:cNvPr>
          <p:cNvSpPr txBox="1"/>
          <p:nvPr/>
        </p:nvSpPr>
        <p:spPr>
          <a:xfrm>
            <a:off x="1060196" y="5082560"/>
            <a:ext cx="9711436" cy="258404"/>
          </a:xfrm>
          <a:prstGeom prst="rect">
            <a:avLst/>
          </a:prstGeom>
        </p:spPr>
        <p:txBody>
          <a:bodyPr vert="horz" wrap="square" lIns="0" tIns="12065" rIns="0" bIns="0" rtlCol="0">
            <a:spAutoFit/>
          </a:bodyPr>
          <a:lstStyle/>
          <a:p>
            <a:pPr marL="12700">
              <a:lnSpc>
                <a:spcPct val="100000"/>
              </a:lnSpc>
              <a:spcBef>
                <a:spcPts val="95"/>
              </a:spcBef>
            </a:pPr>
            <a:r>
              <a:rPr lang="en-US" sz="1600" dirty="0">
                <a:solidFill>
                  <a:schemeClr val="accent1">
                    <a:lumMod val="75000"/>
                  </a:schemeClr>
                </a:solidFill>
                <a:latin typeface="+mj-lt"/>
                <a:ea typeface="+mj-ea"/>
                <a:cs typeface="+mj-cs"/>
              </a:rPr>
              <a:t>Success increase over time after 2013 with significant dip in 2018. </a:t>
            </a:r>
            <a:endParaRPr sz="1600" dirty="0">
              <a:solidFill>
                <a:schemeClr val="accent1">
                  <a:lumMod val="75000"/>
                </a:schemeClr>
              </a:solidFill>
              <a:latin typeface="+mj-lt"/>
              <a:ea typeface="+mj-ea"/>
              <a:cs typeface="+mj-cs"/>
            </a:endParaRPr>
          </a:p>
        </p:txBody>
      </p:sp>
      <p:sp>
        <p:nvSpPr>
          <p:cNvPr id="3" name="object 7">
            <a:extLst>
              <a:ext uri="{FF2B5EF4-FFF2-40B4-BE49-F238E27FC236}">
                <a16:creationId xmlns:a16="http://schemas.microsoft.com/office/drawing/2014/main" id="{7D111F9E-664A-1ACF-0D1A-9B3CD8662354}"/>
              </a:ext>
            </a:extLst>
          </p:cNvPr>
          <p:cNvSpPr/>
          <p:nvPr/>
        </p:nvSpPr>
        <p:spPr>
          <a:xfrm>
            <a:off x="1060196" y="1738375"/>
            <a:ext cx="4565904" cy="3049524"/>
          </a:xfrm>
          <a:prstGeom prst="rect">
            <a:avLst/>
          </a:prstGeom>
          <a:blipFill>
            <a:blip r:embed="rId2" cstate="print"/>
            <a:stretch>
              <a:fillRect/>
            </a:stretch>
          </a:blipFill>
        </p:spPr>
        <p:txBody>
          <a:bodyPr wrap="square" lIns="0" tIns="0" rIns="0" bIns="0" rtlCol="0"/>
          <a:lstStyle/>
          <a:p>
            <a:endParaRPr/>
          </a:p>
        </p:txBody>
      </p:sp>
      <p:sp>
        <p:nvSpPr>
          <p:cNvPr id="6" name="object 8">
            <a:extLst>
              <a:ext uri="{FF2B5EF4-FFF2-40B4-BE49-F238E27FC236}">
                <a16:creationId xmlns:a16="http://schemas.microsoft.com/office/drawing/2014/main" id="{52D4B933-7BE5-C4A0-15A0-B1B07B52A066}"/>
              </a:ext>
            </a:extLst>
          </p:cNvPr>
          <p:cNvSpPr txBox="1"/>
          <p:nvPr/>
        </p:nvSpPr>
        <p:spPr>
          <a:xfrm>
            <a:off x="6010402" y="2750057"/>
            <a:ext cx="1974214" cy="750847"/>
          </a:xfrm>
          <a:prstGeom prst="rect">
            <a:avLst/>
          </a:prstGeom>
        </p:spPr>
        <p:txBody>
          <a:bodyPr vert="horz" wrap="square" lIns="0" tIns="12065" rIns="0" bIns="0" rtlCol="0">
            <a:spAutoFit/>
          </a:bodyPr>
          <a:lstStyle/>
          <a:p>
            <a:pPr marL="12700" marR="5080">
              <a:lnSpc>
                <a:spcPct val="100000"/>
              </a:lnSpc>
              <a:spcBef>
                <a:spcPts val="95"/>
              </a:spcBef>
            </a:pPr>
            <a:r>
              <a:rPr sz="1600" dirty="0">
                <a:solidFill>
                  <a:schemeClr val="accent1">
                    <a:lumMod val="75000"/>
                  </a:schemeClr>
                </a:solidFill>
                <a:latin typeface="+mj-lt"/>
                <a:ea typeface="+mj-ea"/>
                <a:cs typeface="+mj-cs"/>
              </a:rPr>
              <a:t>95% confidence interval  (light blue shading)</a:t>
            </a:r>
          </a:p>
        </p:txBody>
      </p:sp>
    </p:spTree>
    <p:extLst>
      <p:ext uri="{BB962C8B-B14F-4D97-AF65-F5344CB8AC3E}">
        <p14:creationId xmlns:p14="http://schemas.microsoft.com/office/powerpoint/2010/main" val="12236919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5957C-7DE0-14B5-FE6B-D46DA4900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6FD54-031C-2709-C618-89C5FC8A68CF}"/>
              </a:ext>
            </a:extLst>
          </p:cNvPr>
          <p:cNvSpPr>
            <a:spLocks noGrp="1"/>
          </p:cNvSpPr>
          <p:nvPr>
            <p:ph type="title"/>
          </p:nvPr>
        </p:nvSpPr>
        <p:spPr/>
        <p:txBody>
          <a:bodyPr/>
          <a:lstStyle/>
          <a:p>
            <a:r>
              <a:rPr lang="en-US" dirty="0"/>
              <a:t>EDA with SQL</a:t>
            </a:r>
          </a:p>
        </p:txBody>
      </p:sp>
      <p:sp>
        <p:nvSpPr>
          <p:cNvPr id="4" name="TextBox 3">
            <a:extLst>
              <a:ext uri="{FF2B5EF4-FFF2-40B4-BE49-F238E27FC236}">
                <a16:creationId xmlns:a16="http://schemas.microsoft.com/office/drawing/2014/main" id="{D7B306BC-479E-12A3-6583-F9D29FB3F98E}"/>
              </a:ext>
            </a:extLst>
          </p:cNvPr>
          <p:cNvSpPr txBox="1"/>
          <p:nvPr/>
        </p:nvSpPr>
        <p:spPr>
          <a:xfrm>
            <a:off x="1295400" y="1901827"/>
            <a:ext cx="7860030" cy="2308324"/>
          </a:xfrm>
          <a:prstGeom prst="rect">
            <a:avLst/>
          </a:prstGeom>
          <a:noFill/>
        </p:spPr>
        <p:txBody>
          <a:bodyPr wrap="square">
            <a:spAutoFit/>
          </a:bodyPr>
          <a:lstStyle/>
          <a:p>
            <a:r>
              <a:rPr lang="en-US" sz="1600" dirty="0">
                <a:solidFill>
                  <a:schemeClr val="accent1">
                    <a:lumMod val="75000"/>
                  </a:schemeClr>
                </a:solidFill>
                <a:latin typeface="+mj-lt"/>
                <a:ea typeface="+mj-ea"/>
                <a:cs typeface="+mj-cs"/>
              </a:rPr>
              <a:t>Storage: Data hosted in an IBM DB2 Database.</a:t>
            </a:r>
          </a:p>
          <a:p>
            <a:endParaRPr lang="en-US" sz="1600" dirty="0">
              <a:solidFill>
                <a:schemeClr val="accent1">
                  <a:lumMod val="75000"/>
                </a:schemeClr>
              </a:solidFill>
              <a:latin typeface="+mj-lt"/>
              <a:ea typeface="+mj-ea"/>
              <a:cs typeface="+mj-cs"/>
            </a:endParaRPr>
          </a:p>
          <a:p>
            <a:r>
              <a:rPr lang="en-US" sz="1600" dirty="0">
                <a:solidFill>
                  <a:schemeClr val="accent1">
                    <a:lumMod val="75000"/>
                  </a:schemeClr>
                </a:solidFill>
                <a:latin typeface="+mj-lt"/>
                <a:ea typeface="+mj-ea"/>
                <a:cs typeface="+mj-cs"/>
              </a:rPr>
              <a:t>Access Method: Queried programmatically using SQL integrated with Python.</a:t>
            </a:r>
          </a:p>
          <a:p>
            <a:endParaRPr lang="en-US" sz="1600" dirty="0">
              <a:solidFill>
                <a:schemeClr val="accent1">
                  <a:lumMod val="75000"/>
                </a:schemeClr>
              </a:solidFill>
              <a:latin typeface="+mj-lt"/>
              <a:ea typeface="+mj-ea"/>
              <a:cs typeface="+mj-cs"/>
            </a:endParaRPr>
          </a:p>
          <a:p>
            <a:r>
              <a:rPr lang="en-US" sz="1600" dirty="0">
                <a:solidFill>
                  <a:schemeClr val="accent1">
                    <a:lumMod val="75000"/>
                  </a:schemeClr>
                </a:solidFill>
                <a:latin typeface="+mj-lt"/>
                <a:ea typeface="+mj-ea"/>
                <a:cs typeface="+mj-cs"/>
              </a:rPr>
              <a:t>Goal: Run initial exploratory queries to audit and better understand the dataset.</a:t>
            </a:r>
          </a:p>
          <a:p>
            <a:endParaRPr lang="en-US" sz="1600" dirty="0">
              <a:solidFill>
                <a:schemeClr val="accent1">
                  <a:lumMod val="75000"/>
                </a:schemeClr>
              </a:solidFill>
              <a:latin typeface="+mj-lt"/>
              <a:ea typeface="+mj-ea"/>
              <a:cs typeface="+mj-cs"/>
            </a:endParaRPr>
          </a:p>
          <a:p>
            <a:r>
              <a:rPr lang="en-US" sz="1600" dirty="0">
                <a:solidFill>
                  <a:schemeClr val="accent1">
                    <a:lumMod val="75000"/>
                  </a:schemeClr>
                </a:solidFill>
                <a:latin typeface="+mj-lt"/>
                <a:ea typeface="+mj-ea"/>
                <a:cs typeface="+mj-cs"/>
              </a:rPr>
              <a:t>Query Focus: Looking closely at launch sites, booster variations, customer payload sizes, mission success rates, and landing results.</a:t>
            </a:r>
          </a:p>
          <a:p>
            <a:pPr marL="285750" indent="-285750">
              <a:buFont typeface="Arial" panose="020B0604020202020204" pitchFamily="34" charset="0"/>
              <a:buChar char="•"/>
            </a:pPr>
            <a:endParaRPr lang="en-US" sz="1600" dirty="0">
              <a:solidFill>
                <a:schemeClr val="accent1">
                  <a:lumMod val="75000"/>
                </a:schemeClr>
              </a:solidFill>
              <a:latin typeface="+mj-lt"/>
              <a:ea typeface="+mj-ea"/>
              <a:cs typeface="+mj-cs"/>
            </a:endParaRPr>
          </a:p>
        </p:txBody>
      </p:sp>
    </p:spTree>
    <p:extLst>
      <p:ext uri="{BB962C8B-B14F-4D97-AF65-F5344CB8AC3E}">
        <p14:creationId xmlns:p14="http://schemas.microsoft.com/office/powerpoint/2010/main" val="109872322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5A3B2-0A85-05E3-B174-78D790D00888}"/>
              </a:ext>
            </a:extLst>
          </p:cNvPr>
          <p:cNvSpPr>
            <a:spLocks noGrp="1"/>
          </p:cNvSpPr>
          <p:nvPr>
            <p:ph type="title"/>
          </p:nvPr>
        </p:nvSpPr>
        <p:spPr/>
        <p:txBody>
          <a:bodyPr/>
          <a:lstStyle/>
          <a:p>
            <a:r>
              <a:rPr lang="en-US" dirty="0"/>
              <a:t>All Launch Site Name</a:t>
            </a:r>
          </a:p>
        </p:txBody>
      </p:sp>
      <p:sp>
        <p:nvSpPr>
          <p:cNvPr id="5" name="TextBox 4">
            <a:extLst>
              <a:ext uri="{FF2B5EF4-FFF2-40B4-BE49-F238E27FC236}">
                <a16:creationId xmlns:a16="http://schemas.microsoft.com/office/drawing/2014/main" id="{0CD0A679-D803-D686-343E-A45E32F7AC9D}"/>
              </a:ext>
            </a:extLst>
          </p:cNvPr>
          <p:cNvSpPr txBox="1"/>
          <p:nvPr/>
        </p:nvSpPr>
        <p:spPr>
          <a:xfrm>
            <a:off x="5084064" y="2010155"/>
            <a:ext cx="4837176" cy="2062103"/>
          </a:xfrm>
          <a:prstGeom prst="rect">
            <a:avLst/>
          </a:prstGeom>
          <a:noFill/>
        </p:spPr>
        <p:txBody>
          <a:bodyPr wrap="square">
            <a:spAutoFit/>
          </a:bodyPr>
          <a:lstStyle/>
          <a:p>
            <a:pPr>
              <a:buNone/>
            </a:pPr>
            <a:r>
              <a:rPr lang="en-US" sz="1600" dirty="0">
                <a:solidFill>
                  <a:schemeClr val="accent1">
                    <a:lumMod val="75000"/>
                  </a:schemeClr>
                </a:solidFill>
                <a:latin typeface="+mj-lt"/>
                <a:ea typeface="+mj-ea"/>
                <a:cs typeface="+mj-cs"/>
              </a:rPr>
              <a:t>Action: Ran a database query for unique launch site locations.</a:t>
            </a:r>
          </a:p>
          <a:p>
            <a:pPr>
              <a:buNone/>
            </a:pPr>
            <a:r>
              <a:rPr lang="en-US" sz="1600" dirty="0">
                <a:solidFill>
                  <a:schemeClr val="accent1">
                    <a:lumMod val="75000"/>
                  </a:schemeClr>
                </a:solidFill>
                <a:latin typeface="+mj-lt"/>
                <a:ea typeface="+mj-ea"/>
                <a:cs typeface="+mj-cs"/>
              </a:rPr>
              <a:t>The Problem: Found typos and old naming conventions (CCAFSSLC-40 and CCAFS LC-40).</a:t>
            </a:r>
          </a:p>
          <a:p>
            <a:pPr>
              <a:buNone/>
            </a:pPr>
            <a:r>
              <a:rPr lang="en-US" sz="1600" dirty="0">
                <a:solidFill>
                  <a:schemeClr val="accent1">
                    <a:lumMod val="75000"/>
                  </a:schemeClr>
                </a:solidFill>
                <a:latin typeface="+mj-lt"/>
                <a:ea typeface="+mj-ea"/>
                <a:cs typeface="+mj-cs"/>
              </a:rPr>
              <a:t>The Fix: Cleaned and consolidated the data.</a:t>
            </a:r>
          </a:p>
          <a:p>
            <a:pPr>
              <a:buNone/>
            </a:pPr>
            <a:r>
              <a:rPr lang="en-US" sz="1600" dirty="0">
                <a:solidFill>
                  <a:schemeClr val="accent1">
                    <a:lumMod val="75000"/>
                  </a:schemeClr>
                </a:solidFill>
                <a:latin typeface="+mj-lt"/>
                <a:ea typeface="+mj-ea"/>
                <a:cs typeface="+mj-cs"/>
              </a:rPr>
              <a:t>Final Result: Narrowed the dataset down to the 3 actual unique launch sites: CCAFS SLC-40, KSC LC-39A, and VAFB SLC-4E.</a:t>
            </a:r>
          </a:p>
        </p:txBody>
      </p:sp>
      <p:pic>
        <p:nvPicPr>
          <p:cNvPr id="7" name="Picture 6">
            <a:extLst>
              <a:ext uri="{FF2B5EF4-FFF2-40B4-BE49-F238E27FC236}">
                <a16:creationId xmlns:a16="http://schemas.microsoft.com/office/drawing/2014/main" id="{E9099F13-4D35-1CD6-E9CD-2F3FE345C65F}"/>
              </a:ext>
            </a:extLst>
          </p:cNvPr>
          <p:cNvPicPr>
            <a:picLocks noChangeAspect="1"/>
          </p:cNvPicPr>
          <p:nvPr/>
        </p:nvPicPr>
        <p:blipFill>
          <a:blip r:embed="rId2"/>
          <a:stretch>
            <a:fillRect/>
          </a:stretch>
        </p:blipFill>
        <p:spPr>
          <a:xfrm>
            <a:off x="1066184" y="2180865"/>
            <a:ext cx="3784949" cy="2227505"/>
          </a:xfrm>
          <a:prstGeom prst="rect">
            <a:avLst/>
          </a:prstGeom>
        </p:spPr>
      </p:pic>
    </p:spTree>
    <p:extLst>
      <p:ext uri="{BB962C8B-B14F-4D97-AF65-F5344CB8AC3E}">
        <p14:creationId xmlns:p14="http://schemas.microsoft.com/office/powerpoint/2010/main" val="2009752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B3B6E-D93F-E14D-FE4F-88A3F8E7F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3E38A-80B6-1614-5A3F-2DBDAC3FD358}"/>
              </a:ext>
            </a:extLst>
          </p:cNvPr>
          <p:cNvSpPr>
            <a:spLocks noGrp="1"/>
          </p:cNvSpPr>
          <p:nvPr>
            <p:ph type="title"/>
          </p:nvPr>
        </p:nvSpPr>
        <p:spPr/>
        <p:txBody>
          <a:bodyPr/>
          <a:lstStyle/>
          <a:p>
            <a:r>
              <a:rPr lang="en-US" dirty="0"/>
              <a:t>Lauch Site Names Beginning with ‘CCA’</a:t>
            </a:r>
          </a:p>
        </p:txBody>
      </p:sp>
      <p:pic>
        <p:nvPicPr>
          <p:cNvPr id="7" name="Picture 6">
            <a:extLst>
              <a:ext uri="{FF2B5EF4-FFF2-40B4-BE49-F238E27FC236}">
                <a16:creationId xmlns:a16="http://schemas.microsoft.com/office/drawing/2014/main" id="{7A711BC1-CB56-8D7A-FB44-24C2CA464721}"/>
              </a:ext>
            </a:extLst>
          </p:cNvPr>
          <p:cNvPicPr>
            <a:picLocks noChangeAspect="1"/>
          </p:cNvPicPr>
          <p:nvPr/>
        </p:nvPicPr>
        <p:blipFill>
          <a:blip r:embed="rId2"/>
          <a:stretch>
            <a:fillRect/>
          </a:stretch>
        </p:blipFill>
        <p:spPr>
          <a:xfrm>
            <a:off x="789271" y="1905801"/>
            <a:ext cx="10770669" cy="2762451"/>
          </a:xfrm>
          <a:prstGeom prst="rect">
            <a:avLst/>
          </a:prstGeom>
        </p:spPr>
      </p:pic>
    </p:spTree>
    <p:extLst>
      <p:ext uri="{BB962C8B-B14F-4D97-AF65-F5344CB8AC3E}">
        <p14:creationId xmlns:p14="http://schemas.microsoft.com/office/powerpoint/2010/main" val="408393008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BECF0-D8C8-3931-F48B-EDA7A0F6D16C}"/>
              </a:ext>
            </a:extLst>
          </p:cNvPr>
          <p:cNvSpPr>
            <a:spLocks noGrp="1"/>
          </p:cNvSpPr>
          <p:nvPr>
            <p:ph type="title"/>
          </p:nvPr>
        </p:nvSpPr>
        <p:spPr/>
        <p:txBody>
          <a:bodyPr/>
          <a:lstStyle/>
          <a:p>
            <a:r>
              <a:rPr lang="en-US" dirty="0"/>
              <a:t>Total Payload Mass from NASA</a:t>
            </a:r>
          </a:p>
        </p:txBody>
      </p:sp>
      <p:pic>
        <p:nvPicPr>
          <p:cNvPr id="4" name="Picture 3">
            <a:extLst>
              <a:ext uri="{FF2B5EF4-FFF2-40B4-BE49-F238E27FC236}">
                <a16:creationId xmlns:a16="http://schemas.microsoft.com/office/drawing/2014/main" id="{6DA3C4FB-6448-07C2-3C50-ABF82ECF2450}"/>
              </a:ext>
            </a:extLst>
          </p:cNvPr>
          <p:cNvPicPr>
            <a:picLocks noChangeAspect="1"/>
          </p:cNvPicPr>
          <p:nvPr/>
        </p:nvPicPr>
        <p:blipFill>
          <a:blip r:embed="rId2"/>
          <a:stretch>
            <a:fillRect/>
          </a:stretch>
        </p:blipFill>
        <p:spPr>
          <a:xfrm>
            <a:off x="1474704" y="2034879"/>
            <a:ext cx="5584463" cy="2615225"/>
          </a:xfrm>
          <a:prstGeom prst="rect">
            <a:avLst/>
          </a:prstGeom>
        </p:spPr>
      </p:pic>
      <p:sp>
        <p:nvSpPr>
          <p:cNvPr id="5" name="object 4">
            <a:extLst>
              <a:ext uri="{FF2B5EF4-FFF2-40B4-BE49-F238E27FC236}">
                <a16:creationId xmlns:a16="http://schemas.microsoft.com/office/drawing/2014/main" id="{75F8242F-8DDC-BC90-031F-179EE055D614}"/>
              </a:ext>
            </a:extLst>
          </p:cNvPr>
          <p:cNvSpPr txBox="1"/>
          <p:nvPr/>
        </p:nvSpPr>
        <p:spPr>
          <a:xfrm>
            <a:off x="7335139" y="1963928"/>
            <a:ext cx="3489325" cy="1637756"/>
          </a:xfrm>
          <a:prstGeom prst="rect">
            <a:avLst/>
          </a:prstGeom>
        </p:spPr>
        <p:txBody>
          <a:bodyPr vert="horz" wrap="square" lIns="0" tIns="47625" rIns="0" bIns="0" rtlCol="0">
            <a:spAutoFit/>
          </a:bodyPr>
          <a:lstStyle/>
          <a:p>
            <a:pPr marL="12700" marR="5080">
              <a:lnSpc>
                <a:spcPct val="90100"/>
              </a:lnSpc>
              <a:spcBef>
                <a:spcPts val="340"/>
              </a:spcBef>
            </a:pPr>
            <a:r>
              <a:rPr sz="1600" dirty="0">
                <a:solidFill>
                  <a:schemeClr val="accent1">
                    <a:lumMod val="75000"/>
                  </a:schemeClr>
                </a:solidFill>
                <a:latin typeface="+mj-lt"/>
                <a:ea typeface="+mj-ea"/>
                <a:cs typeface="+mj-cs"/>
              </a:rPr>
              <a:t>This query sums the total payload  mass in kg where NASA was the  customer.</a:t>
            </a:r>
          </a:p>
          <a:p>
            <a:pPr marL="12700" marR="5080">
              <a:lnSpc>
                <a:spcPct val="90100"/>
              </a:lnSpc>
              <a:spcBef>
                <a:spcPts val="340"/>
              </a:spcBef>
            </a:pPr>
            <a:r>
              <a:rPr sz="1600" dirty="0">
                <a:solidFill>
                  <a:schemeClr val="accent1">
                    <a:lumMod val="75000"/>
                  </a:schemeClr>
                </a:solidFill>
                <a:latin typeface="+mj-lt"/>
                <a:ea typeface="+mj-ea"/>
                <a:cs typeface="+mj-cs"/>
              </a:rPr>
              <a:t>CRS stands for Commercial  Resupply Services which indicates  that these payloads were sent to  the International Space Station  (ISS).</a:t>
            </a:r>
          </a:p>
        </p:txBody>
      </p:sp>
    </p:spTree>
    <p:extLst>
      <p:ext uri="{BB962C8B-B14F-4D97-AF65-F5344CB8AC3E}">
        <p14:creationId xmlns:p14="http://schemas.microsoft.com/office/powerpoint/2010/main" val="1940952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177-6ACC-90EF-95AC-331CBB0669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5FB0E-9B63-59EF-687F-89F43A29A0FE}"/>
              </a:ext>
            </a:extLst>
          </p:cNvPr>
          <p:cNvSpPr>
            <a:spLocks noGrp="1"/>
          </p:cNvSpPr>
          <p:nvPr>
            <p:ph type="title"/>
          </p:nvPr>
        </p:nvSpPr>
        <p:spPr/>
        <p:txBody>
          <a:bodyPr/>
          <a:lstStyle/>
          <a:p>
            <a:r>
              <a:rPr lang="en-US" dirty="0"/>
              <a:t>Average Payload Mass by F9v1.1</a:t>
            </a:r>
          </a:p>
        </p:txBody>
      </p:sp>
      <p:pic>
        <p:nvPicPr>
          <p:cNvPr id="6" name="Picture 5">
            <a:extLst>
              <a:ext uri="{FF2B5EF4-FFF2-40B4-BE49-F238E27FC236}">
                <a16:creationId xmlns:a16="http://schemas.microsoft.com/office/drawing/2014/main" id="{DB902C81-739B-EC04-D88B-7BC5F9F8B56C}"/>
              </a:ext>
            </a:extLst>
          </p:cNvPr>
          <p:cNvPicPr>
            <a:picLocks noChangeAspect="1"/>
          </p:cNvPicPr>
          <p:nvPr/>
        </p:nvPicPr>
        <p:blipFill>
          <a:blip r:embed="rId2"/>
          <a:stretch>
            <a:fillRect/>
          </a:stretch>
        </p:blipFill>
        <p:spPr>
          <a:xfrm>
            <a:off x="1503771" y="1874183"/>
            <a:ext cx="5243538" cy="2736318"/>
          </a:xfrm>
          <a:prstGeom prst="rect">
            <a:avLst/>
          </a:prstGeom>
        </p:spPr>
      </p:pic>
      <p:sp>
        <p:nvSpPr>
          <p:cNvPr id="7" name="object 4">
            <a:extLst>
              <a:ext uri="{FF2B5EF4-FFF2-40B4-BE49-F238E27FC236}">
                <a16:creationId xmlns:a16="http://schemas.microsoft.com/office/drawing/2014/main" id="{CCA7698D-6CF3-74A8-22F5-D6314280C36B}"/>
              </a:ext>
            </a:extLst>
          </p:cNvPr>
          <p:cNvSpPr txBox="1"/>
          <p:nvPr/>
        </p:nvSpPr>
        <p:spPr>
          <a:xfrm>
            <a:off x="7305718" y="1941703"/>
            <a:ext cx="3382511" cy="1461939"/>
          </a:xfrm>
          <a:prstGeom prst="rect">
            <a:avLst/>
          </a:prstGeom>
        </p:spPr>
        <p:txBody>
          <a:bodyPr vert="horz" wrap="square" lIns="0" tIns="38100" rIns="0" bIns="0" rtlCol="0">
            <a:spAutoFit/>
          </a:bodyPr>
          <a:lstStyle/>
          <a:p>
            <a:pPr marL="12700" marR="5080">
              <a:lnSpc>
                <a:spcPct val="90100"/>
              </a:lnSpc>
              <a:spcBef>
                <a:spcPts val="340"/>
              </a:spcBef>
            </a:pPr>
            <a:r>
              <a:rPr sz="1600" dirty="0">
                <a:solidFill>
                  <a:schemeClr val="accent1">
                    <a:lumMod val="75000"/>
                  </a:schemeClr>
                </a:solidFill>
                <a:latin typeface="+mj-lt"/>
                <a:ea typeface="+mj-ea"/>
                <a:cs typeface="+mj-cs"/>
              </a:rPr>
              <a:t>This</a:t>
            </a:r>
            <a:r>
              <a:rPr sz="2000" spc="-5" dirty="0">
                <a:solidFill>
                  <a:srgbClr val="404040"/>
                </a:solidFill>
                <a:latin typeface="Carlito"/>
                <a:cs typeface="Carlito"/>
              </a:rPr>
              <a:t> </a:t>
            </a:r>
            <a:r>
              <a:rPr sz="1600" dirty="0">
                <a:solidFill>
                  <a:schemeClr val="accent1">
                    <a:lumMod val="75000"/>
                  </a:schemeClr>
                </a:solidFill>
                <a:latin typeface="+mj-lt"/>
                <a:ea typeface="+mj-ea"/>
                <a:cs typeface="+mj-cs"/>
              </a:rPr>
              <a:t>query calculates the  average payload mass or  launches which used  booster version F9 v1.1</a:t>
            </a:r>
          </a:p>
          <a:p>
            <a:pPr marL="12700" marR="5080">
              <a:lnSpc>
                <a:spcPct val="90100"/>
              </a:lnSpc>
              <a:spcBef>
                <a:spcPts val="340"/>
              </a:spcBef>
            </a:pPr>
            <a:r>
              <a:rPr sz="1600" dirty="0">
                <a:solidFill>
                  <a:schemeClr val="accent1">
                    <a:lumMod val="75000"/>
                  </a:schemeClr>
                </a:solidFill>
                <a:latin typeface="+mj-lt"/>
                <a:ea typeface="+mj-ea"/>
                <a:cs typeface="+mj-cs"/>
              </a:rPr>
              <a:t>Average payload mass of  F9 1.1 is on the low end of  our payload mass range</a:t>
            </a:r>
          </a:p>
        </p:txBody>
      </p:sp>
    </p:spTree>
    <p:extLst>
      <p:ext uri="{BB962C8B-B14F-4D97-AF65-F5344CB8AC3E}">
        <p14:creationId xmlns:p14="http://schemas.microsoft.com/office/powerpoint/2010/main" val="400466379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99765-AFB7-B294-AD65-99303CE0EF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B2EB17-5F54-6397-B7A2-11045997AA60}"/>
              </a:ext>
            </a:extLst>
          </p:cNvPr>
          <p:cNvSpPr>
            <a:spLocks noGrp="1"/>
          </p:cNvSpPr>
          <p:nvPr>
            <p:ph type="title"/>
          </p:nvPr>
        </p:nvSpPr>
        <p:spPr/>
        <p:txBody>
          <a:bodyPr/>
          <a:lstStyle/>
          <a:p>
            <a:r>
              <a:rPr lang="en-US" dirty="0"/>
              <a:t>First Successful Ground Pad Landing Date</a:t>
            </a:r>
          </a:p>
        </p:txBody>
      </p:sp>
      <p:sp>
        <p:nvSpPr>
          <p:cNvPr id="3" name="object 4">
            <a:extLst>
              <a:ext uri="{FF2B5EF4-FFF2-40B4-BE49-F238E27FC236}">
                <a16:creationId xmlns:a16="http://schemas.microsoft.com/office/drawing/2014/main" id="{C65C7FC5-37D8-B556-49ED-D9BCC9B9730F}"/>
              </a:ext>
            </a:extLst>
          </p:cNvPr>
          <p:cNvSpPr txBox="1"/>
          <p:nvPr/>
        </p:nvSpPr>
        <p:spPr>
          <a:xfrm>
            <a:off x="7521066" y="2209038"/>
            <a:ext cx="3239770" cy="1743554"/>
          </a:xfrm>
          <a:prstGeom prst="rect">
            <a:avLst/>
          </a:prstGeom>
        </p:spPr>
        <p:txBody>
          <a:bodyPr vert="horz" wrap="square" lIns="0" tIns="38100" rIns="0" bIns="0" rtlCol="0">
            <a:spAutoFit/>
          </a:bodyPr>
          <a:lstStyle/>
          <a:p>
            <a:pPr marL="12700" marR="5080">
              <a:lnSpc>
                <a:spcPct val="90100"/>
              </a:lnSpc>
              <a:spcBef>
                <a:spcPts val="340"/>
              </a:spcBef>
            </a:pPr>
            <a:r>
              <a:rPr sz="1600" dirty="0">
                <a:solidFill>
                  <a:schemeClr val="accent1">
                    <a:lumMod val="75000"/>
                  </a:schemeClr>
                </a:solidFill>
                <a:latin typeface="+mj-lt"/>
                <a:ea typeface="+mj-ea"/>
                <a:cs typeface="+mj-cs"/>
              </a:rPr>
              <a:t>This query returns the first  successful ground pad landing  date.</a:t>
            </a:r>
          </a:p>
          <a:p>
            <a:pPr marL="12700" marR="5080">
              <a:lnSpc>
                <a:spcPct val="90100"/>
              </a:lnSpc>
              <a:spcBef>
                <a:spcPts val="340"/>
              </a:spcBef>
            </a:pPr>
            <a:r>
              <a:rPr sz="1600" dirty="0">
                <a:solidFill>
                  <a:schemeClr val="accent1">
                    <a:lumMod val="75000"/>
                  </a:schemeClr>
                </a:solidFill>
                <a:latin typeface="+mj-lt"/>
                <a:ea typeface="+mj-ea"/>
                <a:cs typeface="+mj-cs"/>
              </a:rPr>
              <a:t>First ground pad landing wasn’t</a:t>
            </a:r>
          </a:p>
          <a:p>
            <a:pPr marL="12700" marR="5080">
              <a:lnSpc>
                <a:spcPct val="90100"/>
              </a:lnSpc>
              <a:spcBef>
                <a:spcPts val="340"/>
              </a:spcBef>
            </a:pPr>
            <a:r>
              <a:rPr sz="1600" dirty="0">
                <a:solidFill>
                  <a:schemeClr val="accent1">
                    <a:lumMod val="75000"/>
                  </a:schemeClr>
                </a:solidFill>
                <a:latin typeface="+mj-lt"/>
                <a:ea typeface="+mj-ea"/>
                <a:cs typeface="+mj-cs"/>
              </a:rPr>
              <a:t>until the end of 2015.</a:t>
            </a:r>
          </a:p>
          <a:p>
            <a:pPr marL="12700" marR="5080">
              <a:lnSpc>
                <a:spcPct val="90100"/>
              </a:lnSpc>
              <a:spcBef>
                <a:spcPts val="340"/>
              </a:spcBef>
            </a:pPr>
            <a:r>
              <a:rPr sz="1600" dirty="0">
                <a:solidFill>
                  <a:schemeClr val="accent1">
                    <a:lumMod val="75000"/>
                  </a:schemeClr>
                </a:solidFill>
                <a:latin typeface="+mj-lt"/>
                <a:ea typeface="+mj-ea"/>
                <a:cs typeface="+mj-cs"/>
              </a:rPr>
              <a:t>Successful landings in general</a:t>
            </a:r>
          </a:p>
          <a:p>
            <a:pPr marL="12700" marR="5080">
              <a:lnSpc>
                <a:spcPct val="90100"/>
              </a:lnSpc>
              <a:spcBef>
                <a:spcPts val="340"/>
              </a:spcBef>
            </a:pPr>
            <a:r>
              <a:rPr sz="1600" dirty="0">
                <a:solidFill>
                  <a:schemeClr val="accent1">
                    <a:lumMod val="75000"/>
                  </a:schemeClr>
                </a:solidFill>
                <a:latin typeface="+mj-lt"/>
                <a:ea typeface="+mj-ea"/>
                <a:cs typeface="+mj-cs"/>
              </a:rPr>
              <a:t>appear starting 2014.</a:t>
            </a:r>
          </a:p>
        </p:txBody>
      </p:sp>
      <p:pic>
        <p:nvPicPr>
          <p:cNvPr id="5" name="Picture 4">
            <a:extLst>
              <a:ext uri="{FF2B5EF4-FFF2-40B4-BE49-F238E27FC236}">
                <a16:creationId xmlns:a16="http://schemas.microsoft.com/office/drawing/2014/main" id="{37971587-37E2-4F8E-F7F1-4C1DCA505D55}"/>
              </a:ext>
            </a:extLst>
          </p:cNvPr>
          <p:cNvPicPr>
            <a:picLocks noChangeAspect="1"/>
          </p:cNvPicPr>
          <p:nvPr/>
        </p:nvPicPr>
        <p:blipFill>
          <a:blip r:embed="rId2"/>
          <a:stretch>
            <a:fillRect/>
          </a:stretch>
        </p:blipFill>
        <p:spPr>
          <a:xfrm>
            <a:off x="1431164" y="1786722"/>
            <a:ext cx="5499026" cy="2554272"/>
          </a:xfrm>
          <a:prstGeom prst="rect">
            <a:avLst/>
          </a:prstGeom>
        </p:spPr>
      </p:pic>
    </p:spTree>
    <p:extLst>
      <p:ext uri="{BB962C8B-B14F-4D97-AF65-F5344CB8AC3E}">
        <p14:creationId xmlns:p14="http://schemas.microsoft.com/office/powerpoint/2010/main" val="227657480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3855-5D33-A459-F191-AC76110EE5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50BB1-3395-30C1-EAC0-BDEC607DBCB8}"/>
              </a:ext>
            </a:extLst>
          </p:cNvPr>
          <p:cNvSpPr>
            <a:spLocks noGrp="1"/>
          </p:cNvSpPr>
          <p:nvPr>
            <p:ph type="title"/>
          </p:nvPr>
        </p:nvSpPr>
        <p:spPr/>
        <p:txBody>
          <a:bodyPr/>
          <a:lstStyle/>
          <a:p>
            <a:r>
              <a:rPr lang="en-US" dirty="0"/>
              <a:t>Successful Drone Ship Landing with Payload Between 4000 and 6000</a:t>
            </a:r>
          </a:p>
        </p:txBody>
      </p:sp>
      <p:sp>
        <p:nvSpPr>
          <p:cNvPr id="4" name="object 4">
            <a:extLst>
              <a:ext uri="{FF2B5EF4-FFF2-40B4-BE49-F238E27FC236}">
                <a16:creationId xmlns:a16="http://schemas.microsoft.com/office/drawing/2014/main" id="{FA2CDF53-FF9D-E6A0-4223-C0113B91A22C}"/>
              </a:ext>
            </a:extLst>
          </p:cNvPr>
          <p:cNvSpPr txBox="1"/>
          <p:nvPr/>
        </p:nvSpPr>
        <p:spPr>
          <a:xfrm>
            <a:off x="9070976" y="1979295"/>
            <a:ext cx="2729598" cy="1368067"/>
          </a:xfrm>
          <a:prstGeom prst="rect">
            <a:avLst/>
          </a:prstGeom>
        </p:spPr>
        <p:txBody>
          <a:bodyPr vert="horz" wrap="square" lIns="0" tIns="38100" rIns="0" bIns="0" rtlCol="0">
            <a:spAutoFit/>
          </a:bodyPr>
          <a:lstStyle/>
          <a:p>
            <a:pPr marL="12700" marR="5080">
              <a:lnSpc>
                <a:spcPct val="90100"/>
              </a:lnSpc>
              <a:spcBef>
                <a:spcPts val="340"/>
              </a:spcBef>
            </a:pPr>
            <a:r>
              <a:rPr sz="1600" dirty="0">
                <a:solidFill>
                  <a:schemeClr val="accent1">
                    <a:lumMod val="75000"/>
                  </a:schemeClr>
                </a:solidFill>
                <a:latin typeface="+mj-lt"/>
                <a:ea typeface="+mj-ea"/>
                <a:cs typeface="+mj-cs"/>
              </a:rPr>
              <a:t>This query returns the four  booster versions that had  successful drone ship landings  and a payload mass between  4000 and 6000 noninclusively.</a:t>
            </a:r>
          </a:p>
        </p:txBody>
      </p:sp>
      <p:pic>
        <p:nvPicPr>
          <p:cNvPr id="7" name="Picture 6">
            <a:extLst>
              <a:ext uri="{FF2B5EF4-FFF2-40B4-BE49-F238E27FC236}">
                <a16:creationId xmlns:a16="http://schemas.microsoft.com/office/drawing/2014/main" id="{DAC0D6BD-42CE-28F9-40AE-EBA1778F0CD9}"/>
              </a:ext>
            </a:extLst>
          </p:cNvPr>
          <p:cNvPicPr>
            <a:picLocks noChangeAspect="1"/>
          </p:cNvPicPr>
          <p:nvPr/>
        </p:nvPicPr>
        <p:blipFill>
          <a:blip r:embed="rId2"/>
          <a:stretch>
            <a:fillRect/>
          </a:stretch>
        </p:blipFill>
        <p:spPr>
          <a:xfrm>
            <a:off x="1295400" y="1899500"/>
            <a:ext cx="7607968" cy="3059000"/>
          </a:xfrm>
          <a:prstGeom prst="rect">
            <a:avLst/>
          </a:prstGeom>
        </p:spPr>
      </p:pic>
    </p:spTree>
    <p:extLst>
      <p:ext uri="{BB962C8B-B14F-4D97-AF65-F5344CB8AC3E}">
        <p14:creationId xmlns:p14="http://schemas.microsoft.com/office/powerpoint/2010/main" val="19526336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F2F4A-8C57-10FF-E365-DCF95AC80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2A4F3-D117-FC38-7C58-34E844D4EF2F}"/>
              </a:ext>
            </a:extLst>
          </p:cNvPr>
          <p:cNvSpPr>
            <a:spLocks noGrp="1"/>
          </p:cNvSpPr>
          <p:nvPr>
            <p:ph type="title"/>
          </p:nvPr>
        </p:nvSpPr>
        <p:spPr/>
        <p:txBody>
          <a:bodyPr/>
          <a:lstStyle/>
          <a:p>
            <a:r>
              <a:rPr lang="en-US" dirty="0"/>
              <a:t>Total Number of Each Mission Outcome</a:t>
            </a:r>
          </a:p>
        </p:txBody>
      </p:sp>
      <p:sp>
        <p:nvSpPr>
          <p:cNvPr id="3" name="object 4">
            <a:extLst>
              <a:ext uri="{FF2B5EF4-FFF2-40B4-BE49-F238E27FC236}">
                <a16:creationId xmlns:a16="http://schemas.microsoft.com/office/drawing/2014/main" id="{8501EF6C-B914-69D7-FFED-C4FB6060C368}"/>
              </a:ext>
            </a:extLst>
          </p:cNvPr>
          <p:cNvSpPr txBox="1"/>
          <p:nvPr/>
        </p:nvSpPr>
        <p:spPr>
          <a:xfrm>
            <a:off x="7863841" y="1889881"/>
            <a:ext cx="3792353" cy="2084801"/>
          </a:xfrm>
          <a:prstGeom prst="rect">
            <a:avLst/>
          </a:prstGeom>
        </p:spPr>
        <p:txBody>
          <a:bodyPr vert="horz" wrap="square" lIns="0" tIns="13335" rIns="0" bIns="0" rtlCol="0">
            <a:spAutoFit/>
          </a:bodyPr>
          <a:lstStyle/>
          <a:p>
            <a:pPr marL="12700" marR="5080">
              <a:lnSpc>
                <a:spcPct val="90100"/>
              </a:lnSpc>
              <a:spcBef>
                <a:spcPts val="340"/>
              </a:spcBef>
            </a:pPr>
            <a:r>
              <a:rPr lang="en-US" sz="1600" dirty="0">
                <a:solidFill>
                  <a:schemeClr val="accent1">
                    <a:lumMod val="75000"/>
                  </a:schemeClr>
                </a:solidFill>
                <a:latin typeface="+mj-lt"/>
                <a:ea typeface="+mj-ea"/>
                <a:cs typeface="+mj-cs"/>
              </a:rPr>
              <a:t>Success Benchmark: SpaceX successfully achieves its primary mission outcome nearly 99% of the time.</a:t>
            </a:r>
          </a:p>
          <a:p>
            <a:pPr marL="12700" marR="5080">
              <a:lnSpc>
                <a:spcPct val="90100"/>
              </a:lnSpc>
              <a:spcBef>
                <a:spcPts val="340"/>
              </a:spcBef>
            </a:pPr>
            <a:r>
              <a:rPr lang="en-US" sz="1600" dirty="0">
                <a:solidFill>
                  <a:schemeClr val="accent1">
                    <a:lumMod val="75000"/>
                  </a:schemeClr>
                </a:solidFill>
                <a:latin typeface="+mj-lt"/>
                <a:ea typeface="+mj-ea"/>
                <a:cs typeface="+mj-cs"/>
              </a:rPr>
              <a:t>Unclear Payload Status: Exactly one launch is flagged with an ambiguous or unconfirmed payload status.</a:t>
            </a:r>
          </a:p>
          <a:p>
            <a:pPr marL="12700" marR="5080">
              <a:lnSpc>
                <a:spcPct val="90100"/>
              </a:lnSpc>
              <a:spcBef>
                <a:spcPts val="340"/>
              </a:spcBef>
            </a:pPr>
            <a:r>
              <a:rPr lang="en-US" sz="1600" dirty="0">
                <a:solidFill>
                  <a:schemeClr val="accent1">
                    <a:lumMod val="75000"/>
                  </a:schemeClr>
                </a:solidFill>
                <a:latin typeface="+mj-lt"/>
                <a:ea typeface="+mj-ea"/>
                <a:cs typeface="+mj-cs"/>
              </a:rPr>
              <a:t>In-Flight Failure: Exactly one mission unfortunately suffered a catastrophic failure during active flight.</a:t>
            </a:r>
          </a:p>
        </p:txBody>
      </p:sp>
      <p:pic>
        <p:nvPicPr>
          <p:cNvPr id="6" name="Picture 5">
            <a:extLst>
              <a:ext uri="{FF2B5EF4-FFF2-40B4-BE49-F238E27FC236}">
                <a16:creationId xmlns:a16="http://schemas.microsoft.com/office/drawing/2014/main" id="{F167F073-DC42-BA63-E699-A2C1EFB5CEDC}"/>
              </a:ext>
            </a:extLst>
          </p:cNvPr>
          <p:cNvPicPr>
            <a:picLocks noChangeAspect="1"/>
          </p:cNvPicPr>
          <p:nvPr/>
        </p:nvPicPr>
        <p:blipFill>
          <a:blip r:embed="rId2"/>
          <a:stretch>
            <a:fillRect/>
          </a:stretch>
        </p:blipFill>
        <p:spPr>
          <a:xfrm>
            <a:off x="1530417" y="1889881"/>
            <a:ext cx="6102417" cy="2566616"/>
          </a:xfrm>
          <a:prstGeom prst="rect">
            <a:avLst/>
          </a:prstGeom>
        </p:spPr>
      </p:pic>
    </p:spTree>
    <p:extLst>
      <p:ext uri="{BB962C8B-B14F-4D97-AF65-F5344CB8AC3E}">
        <p14:creationId xmlns:p14="http://schemas.microsoft.com/office/powerpoint/2010/main" val="49663932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44850-B216-E4EB-7A35-22820467F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89C6C7-52AD-2D02-4168-E21F05E93DF0}"/>
              </a:ext>
            </a:extLst>
          </p:cNvPr>
          <p:cNvSpPr>
            <a:spLocks noGrp="1"/>
          </p:cNvSpPr>
          <p:nvPr>
            <p:ph type="title"/>
          </p:nvPr>
        </p:nvSpPr>
        <p:spPr/>
        <p:txBody>
          <a:bodyPr/>
          <a:lstStyle/>
          <a:p>
            <a:r>
              <a:rPr lang="en-US" dirty="0"/>
              <a:t>Boosters that Carried Maximum Payload</a:t>
            </a:r>
          </a:p>
        </p:txBody>
      </p:sp>
      <p:sp>
        <p:nvSpPr>
          <p:cNvPr id="4" name="object 5">
            <a:extLst>
              <a:ext uri="{FF2B5EF4-FFF2-40B4-BE49-F238E27FC236}">
                <a16:creationId xmlns:a16="http://schemas.microsoft.com/office/drawing/2014/main" id="{9BDF98E6-34A9-A844-6AFD-2B0A42E5F326}"/>
              </a:ext>
            </a:extLst>
          </p:cNvPr>
          <p:cNvSpPr txBox="1"/>
          <p:nvPr/>
        </p:nvSpPr>
        <p:spPr>
          <a:xfrm>
            <a:off x="8316226" y="2105609"/>
            <a:ext cx="3186671" cy="1151597"/>
          </a:xfrm>
          <a:prstGeom prst="rect">
            <a:avLst/>
          </a:prstGeom>
        </p:spPr>
        <p:txBody>
          <a:bodyPr vert="horz" wrap="square" lIns="0" tIns="43180" rIns="0" bIns="0" rtlCol="0">
            <a:spAutoFit/>
          </a:bodyPr>
          <a:lstStyle/>
          <a:p>
            <a:pPr marL="12700" marR="5080">
              <a:lnSpc>
                <a:spcPct val="90100"/>
              </a:lnSpc>
              <a:spcBef>
                <a:spcPts val="340"/>
              </a:spcBef>
            </a:pPr>
            <a:r>
              <a:rPr lang="en-US" sz="1600" dirty="0">
                <a:solidFill>
                  <a:schemeClr val="accent1">
                    <a:lumMod val="75000"/>
                  </a:schemeClr>
                </a:solidFill>
                <a:latin typeface="+mj-lt"/>
                <a:ea typeface="+mj-ea"/>
                <a:cs typeface="+mj-cs"/>
              </a:rPr>
              <a:t>Capacity Correlation: This uniform pattern strongly indicates that maximum payload capacity closely correlates with the specific booster version deployed.</a:t>
            </a:r>
            <a:endParaRPr sz="1600" dirty="0">
              <a:solidFill>
                <a:schemeClr val="accent1">
                  <a:lumMod val="75000"/>
                </a:schemeClr>
              </a:solidFill>
              <a:latin typeface="+mj-lt"/>
              <a:ea typeface="+mj-ea"/>
              <a:cs typeface="+mj-cs"/>
            </a:endParaRPr>
          </a:p>
        </p:txBody>
      </p:sp>
      <p:pic>
        <p:nvPicPr>
          <p:cNvPr id="7" name="Picture 6">
            <a:extLst>
              <a:ext uri="{FF2B5EF4-FFF2-40B4-BE49-F238E27FC236}">
                <a16:creationId xmlns:a16="http://schemas.microsoft.com/office/drawing/2014/main" id="{4E01BA06-DBC2-EB72-8BC1-B35ABBA69A62}"/>
              </a:ext>
            </a:extLst>
          </p:cNvPr>
          <p:cNvPicPr>
            <a:picLocks noChangeAspect="1"/>
          </p:cNvPicPr>
          <p:nvPr/>
        </p:nvPicPr>
        <p:blipFill>
          <a:blip r:embed="rId2"/>
          <a:stretch>
            <a:fillRect/>
          </a:stretch>
        </p:blipFill>
        <p:spPr>
          <a:xfrm>
            <a:off x="1295401" y="1646238"/>
            <a:ext cx="6652420" cy="4080794"/>
          </a:xfrm>
          <a:prstGeom prst="rect">
            <a:avLst/>
          </a:prstGeom>
        </p:spPr>
      </p:pic>
    </p:spTree>
    <p:extLst>
      <p:ext uri="{BB962C8B-B14F-4D97-AF65-F5344CB8AC3E}">
        <p14:creationId xmlns:p14="http://schemas.microsoft.com/office/powerpoint/2010/main" val="295626794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4F50E-880D-02D9-4310-5B1F8B1AA1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EE822A-7D06-1EFD-46DE-4FF35EE06011}"/>
              </a:ext>
            </a:extLst>
          </p:cNvPr>
          <p:cNvSpPr>
            <a:spLocks noGrp="1"/>
          </p:cNvSpPr>
          <p:nvPr>
            <p:ph type="title"/>
          </p:nvPr>
        </p:nvSpPr>
        <p:spPr/>
        <p:txBody>
          <a:bodyPr/>
          <a:lstStyle/>
          <a:p>
            <a:r>
              <a:rPr lang="en-US" dirty="0"/>
              <a:t>2015 Failed Drone Ship Landing Records</a:t>
            </a:r>
          </a:p>
        </p:txBody>
      </p:sp>
      <p:sp>
        <p:nvSpPr>
          <p:cNvPr id="3" name="object 4">
            <a:extLst>
              <a:ext uri="{FF2B5EF4-FFF2-40B4-BE49-F238E27FC236}">
                <a16:creationId xmlns:a16="http://schemas.microsoft.com/office/drawing/2014/main" id="{E0C6F022-6B61-472B-185C-1325747EE525}"/>
              </a:ext>
            </a:extLst>
          </p:cNvPr>
          <p:cNvSpPr txBox="1"/>
          <p:nvPr/>
        </p:nvSpPr>
        <p:spPr>
          <a:xfrm>
            <a:off x="9172875" y="1908168"/>
            <a:ext cx="2847559" cy="1151597"/>
          </a:xfrm>
          <a:prstGeom prst="rect">
            <a:avLst/>
          </a:prstGeom>
        </p:spPr>
        <p:txBody>
          <a:bodyPr vert="horz" wrap="square" lIns="0" tIns="43180" rIns="0" bIns="0" rtlCol="0">
            <a:spAutoFit/>
          </a:bodyPr>
          <a:lstStyle/>
          <a:p>
            <a:pPr marL="12700" marR="5080">
              <a:lnSpc>
                <a:spcPct val="90000"/>
              </a:lnSpc>
              <a:spcBef>
                <a:spcPts val="340"/>
              </a:spcBef>
            </a:pPr>
            <a:r>
              <a:rPr lang="en-US" sz="1600" dirty="0">
                <a:solidFill>
                  <a:schemeClr val="accent1">
                    <a:lumMod val="75000"/>
                  </a:schemeClr>
                </a:solidFill>
                <a:latin typeface="+mj-lt"/>
                <a:ea typeface="+mj-ea"/>
                <a:cs typeface="+mj-cs"/>
              </a:rPr>
              <a:t>Incident Count: The database returned exactly two occurrences matching these failure criteria for the entire year of 2015.</a:t>
            </a:r>
            <a:endParaRPr sz="1600" dirty="0">
              <a:solidFill>
                <a:schemeClr val="accent1">
                  <a:lumMod val="75000"/>
                </a:schemeClr>
              </a:solidFill>
              <a:latin typeface="+mj-lt"/>
              <a:ea typeface="+mj-ea"/>
              <a:cs typeface="+mj-cs"/>
            </a:endParaRPr>
          </a:p>
        </p:txBody>
      </p:sp>
      <p:pic>
        <p:nvPicPr>
          <p:cNvPr id="6" name="Picture 5">
            <a:extLst>
              <a:ext uri="{FF2B5EF4-FFF2-40B4-BE49-F238E27FC236}">
                <a16:creationId xmlns:a16="http://schemas.microsoft.com/office/drawing/2014/main" id="{28B31D18-088D-D7EF-4DCE-2B54BBD1D981}"/>
              </a:ext>
            </a:extLst>
          </p:cNvPr>
          <p:cNvPicPr>
            <a:picLocks noChangeAspect="1"/>
          </p:cNvPicPr>
          <p:nvPr/>
        </p:nvPicPr>
        <p:blipFill>
          <a:blip r:embed="rId2"/>
          <a:stretch>
            <a:fillRect/>
          </a:stretch>
        </p:blipFill>
        <p:spPr>
          <a:xfrm>
            <a:off x="818147" y="1776374"/>
            <a:ext cx="8162224" cy="2752035"/>
          </a:xfrm>
          <a:prstGeom prst="rect">
            <a:avLst/>
          </a:prstGeom>
        </p:spPr>
      </p:pic>
    </p:spTree>
    <p:extLst>
      <p:ext uri="{BB962C8B-B14F-4D97-AF65-F5344CB8AC3E}">
        <p14:creationId xmlns:p14="http://schemas.microsoft.com/office/powerpoint/2010/main" val="211381077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0BB25-B17E-0A75-D964-5689CA8FE0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139634-3E85-F5B1-2070-B62E9502EA43}"/>
              </a:ext>
            </a:extLst>
          </p:cNvPr>
          <p:cNvSpPr>
            <a:spLocks noGrp="1"/>
          </p:cNvSpPr>
          <p:nvPr>
            <p:ph type="title"/>
          </p:nvPr>
        </p:nvSpPr>
        <p:spPr/>
        <p:txBody>
          <a:bodyPr/>
          <a:lstStyle/>
          <a:p>
            <a:r>
              <a:rPr lang="en-US" dirty="0"/>
              <a:t>Ranking Counts of Successful Landings between 2010-06-04 and 2017-03-20</a:t>
            </a:r>
          </a:p>
        </p:txBody>
      </p:sp>
      <p:sp>
        <p:nvSpPr>
          <p:cNvPr id="4" name="object 4">
            <a:extLst>
              <a:ext uri="{FF2B5EF4-FFF2-40B4-BE49-F238E27FC236}">
                <a16:creationId xmlns:a16="http://schemas.microsoft.com/office/drawing/2014/main" id="{6FA4266B-AB83-E774-705F-4351C3C9D31D}"/>
              </a:ext>
            </a:extLst>
          </p:cNvPr>
          <p:cNvSpPr txBox="1"/>
          <p:nvPr/>
        </p:nvSpPr>
        <p:spPr>
          <a:xfrm>
            <a:off x="8614610" y="1737498"/>
            <a:ext cx="3006932" cy="3239348"/>
          </a:xfrm>
          <a:prstGeom prst="rect">
            <a:avLst/>
          </a:prstGeom>
        </p:spPr>
        <p:txBody>
          <a:bodyPr vert="horz" wrap="square" lIns="0" tIns="38100" rIns="0" bIns="0" rtlCol="0">
            <a:spAutoFit/>
          </a:bodyPr>
          <a:lstStyle/>
          <a:p>
            <a:r>
              <a:rPr lang="en-US" sz="1600" dirty="0">
                <a:solidFill>
                  <a:schemeClr val="accent1">
                    <a:lumMod val="75000"/>
                  </a:schemeClr>
                </a:solidFill>
                <a:latin typeface="+mj-lt"/>
                <a:ea typeface="+mj-ea"/>
                <a:cs typeface="+mj-cs"/>
              </a:rPr>
              <a:t>Total Count: A total of 8 successful landings occurred during this defined time period.</a:t>
            </a:r>
          </a:p>
          <a:p>
            <a:r>
              <a:rPr lang="en-US" sz="1600" dirty="0">
                <a:solidFill>
                  <a:schemeClr val="accent1">
                    <a:lumMod val="75000"/>
                  </a:schemeClr>
                </a:solidFill>
                <a:latin typeface="+mj-lt"/>
                <a:ea typeface="+mj-ea"/>
                <a:cs typeface="+mj-cs"/>
              </a:rPr>
              <a:t>Landing Modalities: The successful recovery outcomes are split across two distinct logistical formats:</a:t>
            </a:r>
          </a:p>
          <a:p>
            <a:r>
              <a:rPr lang="en-US" sz="1600" dirty="0">
                <a:solidFill>
                  <a:schemeClr val="accent1">
                    <a:lumMod val="75000"/>
                  </a:schemeClr>
                </a:solidFill>
                <a:latin typeface="+mj-lt"/>
                <a:ea typeface="+mj-ea"/>
                <a:cs typeface="+mj-cs"/>
              </a:rPr>
              <a:t>Drone Ship Landings: Over-water recoveries on autonomous spaceport drone ships.</a:t>
            </a:r>
          </a:p>
          <a:p>
            <a:r>
              <a:rPr lang="en-US" sz="1600" dirty="0">
                <a:solidFill>
                  <a:schemeClr val="accent1">
                    <a:lumMod val="75000"/>
                  </a:schemeClr>
                </a:solidFill>
                <a:latin typeface="+mj-lt"/>
                <a:ea typeface="+mj-ea"/>
                <a:cs typeface="+mj-cs"/>
              </a:rPr>
              <a:t>Ground Pad Landings: Return-to-launch-site (RTLS) recoveries on solid ground pads.</a:t>
            </a:r>
          </a:p>
        </p:txBody>
      </p:sp>
      <p:pic>
        <p:nvPicPr>
          <p:cNvPr id="7" name="Picture 6">
            <a:extLst>
              <a:ext uri="{FF2B5EF4-FFF2-40B4-BE49-F238E27FC236}">
                <a16:creationId xmlns:a16="http://schemas.microsoft.com/office/drawing/2014/main" id="{25402F20-C3F0-0709-255E-6D653424A829}"/>
              </a:ext>
            </a:extLst>
          </p:cNvPr>
          <p:cNvPicPr>
            <a:picLocks noChangeAspect="1"/>
          </p:cNvPicPr>
          <p:nvPr/>
        </p:nvPicPr>
        <p:blipFill>
          <a:blip r:embed="rId2"/>
          <a:stretch>
            <a:fillRect/>
          </a:stretch>
        </p:blipFill>
        <p:spPr>
          <a:xfrm>
            <a:off x="1183907" y="1737498"/>
            <a:ext cx="7274497" cy="3805144"/>
          </a:xfrm>
          <a:prstGeom prst="rect">
            <a:avLst/>
          </a:prstGeom>
        </p:spPr>
      </p:pic>
    </p:spTree>
    <p:extLst>
      <p:ext uri="{BB962C8B-B14F-4D97-AF65-F5344CB8AC3E}">
        <p14:creationId xmlns:p14="http://schemas.microsoft.com/office/powerpoint/2010/main" val="187139438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5B510-7C87-6BAD-4453-5726671341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EF401-6884-086C-3A83-F99220F387B8}"/>
              </a:ext>
            </a:extLst>
          </p:cNvPr>
          <p:cNvSpPr>
            <a:spLocks noGrp="1"/>
          </p:cNvSpPr>
          <p:nvPr>
            <p:ph type="title"/>
          </p:nvPr>
        </p:nvSpPr>
        <p:spPr/>
        <p:txBody>
          <a:bodyPr/>
          <a:lstStyle/>
          <a:p>
            <a:r>
              <a:rPr lang="en-US" dirty="0"/>
              <a:t>Build an interactive map with Folium</a:t>
            </a:r>
          </a:p>
        </p:txBody>
      </p:sp>
      <p:sp>
        <p:nvSpPr>
          <p:cNvPr id="4" name="TextBox 3">
            <a:extLst>
              <a:ext uri="{FF2B5EF4-FFF2-40B4-BE49-F238E27FC236}">
                <a16:creationId xmlns:a16="http://schemas.microsoft.com/office/drawing/2014/main" id="{60CFC57E-2C6F-05A5-239D-EA9BA89107AE}"/>
              </a:ext>
            </a:extLst>
          </p:cNvPr>
          <p:cNvSpPr txBox="1"/>
          <p:nvPr/>
        </p:nvSpPr>
        <p:spPr>
          <a:xfrm>
            <a:off x="1295400" y="1901827"/>
            <a:ext cx="7860030" cy="2800767"/>
          </a:xfrm>
          <a:prstGeom prst="rect">
            <a:avLst/>
          </a:prstGeom>
          <a:noFill/>
        </p:spPr>
        <p:txBody>
          <a:bodyPr wrap="square">
            <a:spAutoFit/>
          </a:bodyPr>
          <a:lstStyle/>
          <a:p>
            <a:r>
              <a:rPr lang="en-US" sz="1600" dirty="0">
                <a:solidFill>
                  <a:schemeClr val="accent1">
                    <a:lumMod val="75000"/>
                  </a:schemeClr>
                </a:solidFill>
                <a:latin typeface="+mj-lt"/>
                <a:ea typeface="+mj-ea"/>
                <a:cs typeface="+mj-cs"/>
              </a:rPr>
              <a:t>Tooling: Leveraged Folium maps for interactive geographic visualization.</a:t>
            </a:r>
          </a:p>
          <a:p>
            <a:endParaRPr lang="en-US" sz="1600" dirty="0">
              <a:solidFill>
                <a:schemeClr val="accent1">
                  <a:lumMod val="75000"/>
                </a:schemeClr>
              </a:solidFill>
              <a:latin typeface="+mj-lt"/>
              <a:ea typeface="+mj-ea"/>
              <a:cs typeface="+mj-cs"/>
            </a:endParaRPr>
          </a:p>
          <a:p>
            <a:r>
              <a:rPr lang="en-US" sz="1600" dirty="0">
                <a:solidFill>
                  <a:schemeClr val="accent1">
                    <a:lumMod val="75000"/>
                  </a:schemeClr>
                </a:solidFill>
                <a:latin typeface="+mj-lt"/>
                <a:ea typeface="+mj-ea"/>
                <a:cs typeface="+mj-cs"/>
              </a:rPr>
              <a:t>What's marked: Launch complexes, successful landing zones, and failed landing locations.</a:t>
            </a:r>
          </a:p>
          <a:p>
            <a:endParaRPr lang="en-US" sz="1600" dirty="0">
              <a:solidFill>
                <a:schemeClr val="accent1">
                  <a:lumMod val="75000"/>
                </a:schemeClr>
              </a:solidFill>
              <a:latin typeface="+mj-lt"/>
              <a:ea typeface="+mj-ea"/>
              <a:cs typeface="+mj-cs"/>
            </a:endParaRPr>
          </a:p>
          <a:p>
            <a:r>
              <a:rPr lang="en-US" sz="1600" dirty="0">
                <a:solidFill>
                  <a:schemeClr val="accent1">
                    <a:lumMod val="75000"/>
                  </a:schemeClr>
                </a:solidFill>
                <a:latin typeface="+mj-lt"/>
                <a:ea typeface="+mj-ea"/>
                <a:cs typeface="+mj-cs"/>
              </a:rPr>
              <a:t>The "Why": Evaluates site selections based on proximity to railways, highways, coastlines, and cities.</a:t>
            </a:r>
          </a:p>
          <a:p>
            <a:endParaRPr lang="en-US" sz="1600" dirty="0">
              <a:solidFill>
                <a:schemeClr val="accent1">
                  <a:lumMod val="75000"/>
                </a:schemeClr>
              </a:solidFill>
              <a:latin typeface="+mj-lt"/>
              <a:ea typeface="+mj-ea"/>
              <a:cs typeface="+mj-cs"/>
            </a:endParaRPr>
          </a:p>
          <a:p>
            <a:r>
              <a:rPr lang="en-US" sz="1600" dirty="0">
                <a:solidFill>
                  <a:schemeClr val="accent1">
                    <a:lumMod val="75000"/>
                  </a:schemeClr>
                </a:solidFill>
                <a:latin typeface="+mj-lt"/>
                <a:ea typeface="+mj-ea"/>
                <a:cs typeface="+mj-cs"/>
              </a:rPr>
              <a:t>Key Insight: Correlates landing performance and site locations with transport infrastructure and safety buffer zones.</a:t>
            </a:r>
          </a:p>
          <a:p>
            <a:pPr marL="285750" indent="-285750">
              <a:buFont typeface="Arial" panose="020B0604020202020204" pitchFamily="34" charset="0"/>
              <a:buChar char="•"/>
            </a:pPr>
            <a:endParaRPr lang="en-US" sz="1600" dirty="0">
              <a:solidFill>
                <a:schemeClr val="accent1">
                  <a:lumMod val="75000"/>
                </a:schemeClr>
              </a:solidFill>
              <a:latin typeface="+mj-lt"/>
              <a:ea typeface="+mj-ea"/>
              <a:cs typeface="+mj-cs"/>
            </a:endParaRPr>
          </a:p>
        </p:txBody>
      </p:sp>
    </p:spTree>
    <p:extLst>
      <p:ext uri="{BB962C8B-B14F-4D97-AF65-F5344CB8AC3E}">
        <p14:creationId xmlns:p14="http://schemas.microsoft.com/office/powerpoint/2010/main" val="19278216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3F92-E673-3123-9CEE-09A2BA8282B3}"/>
              </a:ext>
            </a:extLst>
          </p:cNvPr>
          <p:cNvSpPr>
            <a:spLocks noGrp="1"/>
          </p:cNvSpPr>
          <p:nvPr>
            <p:ph type="title"/>
          </p:nvPr>
        </p:nvSpPr>
        <p:spPr/>
        <p:txBody>
          <a:bodyPr/>
          <a:lstStyle/>
          <a:p>
            <a:r>
              <a:rPr lang="en-US" dirty="0"/>
              <a:t>Launch Site locations</a:t>
            </a:r>
          </a:p>
        </p:txBody>
      </p:sp>
      <p:sp>
        <p:nvSpPr>
          <p:cNvPr id="3" name="object 4">
            <a:extLst>
              <a:ext uri="{FF2B5EF4-FFF2-40B4-BE49-F238E27FC236}">
                <a16:creationId xmlns:a16="http://schemas.microsoft.com/office/drawing/2014/main" id="{127B88B3-4F02-54D2-7102-AE3C4F4746F7}"/>
              </a:ext>
            </a:extLst>
          </p:cNvPr>
          <p:cNvSpPr/>
          <p:nvPr/>
        </p:nvSpPr>
        <p:spPr>
          <a:xfrm>
            <a:off x="854963" y="1796795"/>
            <a:ext cx="10279380" cy="3614928"/>
          </a:xfrm>
          <a:prstGeom prst="rect">
            <a:avLst/>
          </a:prstGeom>
          <a:blipFill>
            <a:blip r:embed="rId2" cstate="print"/>
            <a:stretch>
              <a:fillRect/>
            </a:stretch>
          </a:blipFill>
        </p:spPr>
        <p:txBody>
          <a:bodyPr wrap="square" lIns="0" tIns="0" rIns="0" bIns="0" rtlCol="0"/>
          <a:lstStyle/>
          <a:p>
            <a:endParaRPr/>
          </a:p>
        </p:txBody>
      </p:sp>
      <p:sp>
        <p:nvSpPr>
          <p:cNvPr id="4" name="object 3">
            <a:extLst>
              <a:ext uri="{FF2B5EF4-FFF2-40B4-BE49-F238E27FC236}">
                <a16:creationId xmlns:a16="http://schemas.microsoft.com/office/drawing/2014/main" id="{7DA71996-330E-0393-D6B5-CCBC08AE1D59}"/>
              </a:ext>
            </a:extLst>
          </p:cNvPr>
          <p:cNvSpPr txBox="1"/>
          <p:nvPr/>
        </p:nvSpPr>
        <p:spPr>
          <a:xfrm>
            <a:off x="820013" y="5535879"/>
            <a:ext cx="9882505" cy="597471"/>
          </a:xfrm>
          <a:prstGeom prst="rect">
            <a:avLst/>
          </a:prstGeom>
        </p:spPr>
        <p:txBody>
          <a:bodyPr vert="horz" wrap="square" lIns="0" tIns="34290" rIns="0" bIns="0" rtlCol="0">
            <a:spAutoFit/>
          </a:bodyPr>
          <a:lstStyle/>
          <a:p>
            <a:pPr marL="12700" marR="5080">
              <a:lnSpc>
                <a:spcPts val="2290"/>
              </a:lnSpc>
              <a:spcBef>
                <a:spcPts val="270"/>
              </a:spcBef>
            </a:pPr>
            <a:r>
              <a:rPr lang="en-US" sz="1600" dirty="0">
                <a:solidFill>
                  <a:schemeClr val="accent1">
                    <a:lumMod val="75000"/>
                  </a:schemeClr>
                </a:solidFill>
                <a:latin typeface="+mj-lt"/>
                <a:ea typeface="+mj-ea"/>
                <a:cs typeface="+mj-cs"/>
              </a:rPr>
              <a:t>Coastal Positioning: Across both views, a consistent geographical trend remains clear: all mapped launch sites are situated near the ocean.</a:t>
            </a:r>
            <a:endParaRPr sz="1600" dirty="0">
              <a:solidFill>
                <a:schemeClr val="accent1">
                  <a:lumMod val="75000"/>
                </a:schemeClr>
              </a:solidFill>
              <a:latin typeface="+mj-lt"/>
              <a:ea typeface="+mj-ea"/>
              <a:cs typeface="+mj-cs"/>
            </a:endParaRPr>
          </a:p>
        </p:txBody>
      </p:sp>
    </p:spTree>
    <p:extLst>
      <p:ext uri="{BB962C8B-B14F-4D97-AF65-F5344CB8AC3E}">
        <p14:creationId xmlns:p14="http://schemas.microsoft.com/office/powerpoint/2010/main" val="2203705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7EFED-0BD8-5282-F6F3-4A8ECEBFE56E}"/>
              </a:ext>
            </a:extLst>
          </p:cNvPr>
          <p:cNvSpPr>
            <a:spLocks noGrp="1"/>
          </p:cNvSpPr>
          <p:nvPr>
            <p:ph type="title"/>
          </p:nvPr>
        </p:nvSpPr>
        <p:spPr/>
        <p:txBody>
          <a:bodyPr/>
          <a:lstStyle/>
          <a:p>
            <a:r>
              <a:rPr lang="en-US" dirty="0"/>
              <a:t>Color Coded Launch Markers</a:t>
            </a:r>
          </a:p>
        </p:txBody>
      </p:sp>
      <p:sp>
        <p:nvSpPr>
          <p:cNvPr id="3" name="object 4">
            <a:extLst>
              <a:ext uri="{FF2B5EF4-FFF2-40B4-BE49-F238E27FC236}">
                <a16:creationId xmlns:a16="http://schemas.microsoft.com/office/drawing/2014/main" id="{C1CBF8BD-4586-5188-9ADB-E87CEE37C85F}"/>
              </a:ext>
            </a:extLst>
          </p:cNvPr>
          <p:cNvSpPr/>
          <p:nvPr/>
        </p:nvSpPr>
        <p:spPr>
          <a:xfrm>
            <a:off x="1499616" y="1646238"/>
            <a:ext cx="5620512" cy="3511296"/>
          </a:xfrm>
          <a:prstGeom prst="rect">
            <a:avLst/>
          </a:prstGeom>
          <a:blipFill>
            <a:blip r:embed="rId2" cstate="print"/>
            <a:stretch>
              <a:fillRect/>
            </a:stretch>
          </a:blipFill>
        </p:spPr>
        <p:txBody>
          <a:bodyPr wrap="square" lIns="0" tIns="0" rIns="0" bIns="0" rtlCol="0"/>
          <a:lstStyle/>
          <a:p>
            <a:endParaRPr/>
          </a:p>
        </p:txBody>
      </p:sp>
      <p:sp>
        <p:nvSpPr>
          <p:cNvPr id="4" name="object 3">
            <a:extLst>
              <a:ext uri="{FF2B5EF4-FFF2-40B4-BE49-F238E27FC236}">
                <a16:creationId xmlns:a16="http://schemas.microsoft.com/office/drawing/2014/main" id="{76C9047B-80F5-003E-406C-BB9BB48DE607}"/>
              </a:ext>
            </a:extLst>
          </p:cNvPr>
          <p:cNvSpPr txBox="1"/>
          <p:nvPr/>
        </p:nvSpPr>
        <p:spPr>
          <a:xfrm>
            <a:off x="1232712" y="5356656"/>
            <a:ext cx="10076180" cy="566822"/>
          </a:xfrm>
          <a:prstGeom prst="rect">
            <a:avLst/>
          </a:prstGeom>
        </p:spPr>
        <p:txBody>
          <a:bodyPr vert="horz" wrap="square" lIns="0" tIns="12700" rIns="0" bIns="0" rtlCol="0">
            <a:spAutoFit/>
          </a:bodyPr>
          <a:lstStyle/>
          <a:p>
            <a:r>
              <a:rPr lang="en-US" sz="1200" dirty="0">
                <a:solidFill>
                  <a:schemeClr val="accent1">
                    <a:lumMod val="75000"/>
                  </a:schemeClr>
                </a:solidFill>
                <a:latin typeface="+mj-lt"/>
                <a:ea typeface="+mj-ea"/>
                <a:cs typeface="+mj-cs"/>
              </a:rPr>
              <a:t>Expanding the cluster for the VAFB SLC-4E launch site provides a clear breakdown of historical landing outcomes at that specific facility:</a:t>
            </a:r>
          </a:p>
          <a:p>
            <a:r>
              <a:rPr lang="en-US" sz="1200" dirty="0">
                <a:solidFill>
                  <a:schemeClr val="accent1">
                    <a:lumMod val="75000"/>
                  </a:schemeClr>
                </a:solidFill>
                <a:latin typeface="+mj-lt"/>
                <a:ea typeface="+mj-ea"/>
                <a:cs typeface="+mj-cs"/>
              </a:rPr>
              <a:t>Successful Landings: 4 green icons are displayed.</a:t>
            </a:r>
          </a:p>
          <a:p>
            <a:r>
              <a:rPr lang="en-US" sz="1200" dirty="0">
                <a:solidFill>
                  <a:schemeClr val="accent1">
                    <a:lumMod val="75000"/>
                  </a:schemeClr>
                </a:solidFill>
                <a:latin typeface="+mj-lt"/>
                <a:ea typeface="+mj-ea"/>
                <a:cs typeface="+mj-cs"/>
              </a:rPr>
              <a:t>Failed Landings: 6 red icons are displayed.</a:t>
            </a:r>
          </a:p>
        </p:txBody>
      </p:sp>
    </p:spTree>
    <p:extLst>
      <p:ext uri="{BB962C8B-B14F-4D97-AF65-F5344CB8AC3E}">
        <p14:creationId xmlns:p14="http://schemas.microsoft.com/office/powerpoint/2010/main" val="177066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0AB03-9A06-3B52-4E53-1BCEA806BBC5}"/>
              </a:ext>
            </a:extLst>
          </p:cNvPr>
          <p:cNvSpPr>
            <a:spLocks noGrp="1"/>
          </p:cNvSpPr>
          <p:nvPr>
            <p:ph type="title"/>
          </p:nvPr>
        </p:nvSpPr>
        <p:spPr/>
        <p:txBody>
          <a:bodyPr/>
          <a:lstStyle/>
          <a:p>
            <a:r>
              <a:rPr lang="en-US" dirty="0"/>
              <a:t>Key Location Proximities </a:t>
            </a:r>
          </a:p>
        </p:txBody>
      </p:sp>
      <p:sp>
        <p:nvSpPr>
          <p:cNvPr id="3" name="object 4">
            <a:extLst>
              <a:ext uri="{FF2B5EF4-FFF2-40B4-BE49-F238E27FC236}">
                <a16:creationId xmlns:a16="http://schemas.microsoft.com/office/drawing/2014/main" id="{0C2E5A39-333B-EAB8-7ADE-BEC8FA8D6BBD}"/>
              </a:ext>
            </a:extLst>
          </p:cNvPr>
          <p:cNvSpPr/>
          <p:nvPr/>
        </p:nvSpPr>
        <p:spPr>
          <a:xfrm>
            <a:off x="1084275" y="1828801"/>
            <a:ext cx="8389620" cy="1723643"/>
          </a:xfrm>
          <a:prstGeom prst="rect">
            <a:avLst/>
          </a:prstGeom>
          <a:blipFill>
            <a:blip r:embed="rId2" cstate="print"/>
            <a:stretch>
              <a:fillRect/>
            </a:stretch>
          </a:blipFill>
        </p:spPr>
        <p:txBody>
          <a:bodyPr wrap="square" lIns="0" tIns="0" rIns="0" bIns="0" rtlCol="0"/>
          <a:lstStyle/>
          <a:p>
            <a:endParaRPr/>
          </a:p>
        </p:txBody>
      </p:sp>
      <p:grpSp>
        <p:nvGrpSpPr>
          <p:cNvPr id="4" name="object 5">
            <a:extLst>
              <a:ext uri="{FF2B5EF4-FFF2-40B4-BE49-F238E27FC236}">
                <a16:creationId xmlns:a16="http://schemas.microsoft.com/office/drawing/2014/main" id="{F9864EB9-B8A9-DDAD-5B31-ADA11C4B9267}"/>
              </a:ext>
            </a:extLst>
          </p:cNvPr>
          <p:cNvGrpSpPr/>
          <p:nvPr/>
        </p:nvGrpSpPr>
        <p:grpSpPr>
          <a:xfrm>
            <a:off x="2793491" y="3547872"/>
            <a:ext cx="7505700" cy="1562100"/>
            <a:chOff x="2802635" y="3552444"/>
            <a:chExt cx="7505700" cy="1562100"/>
          </a:xfrm>
        </p:grpSpPr>
        <p:sp>
          <p:nvSpPr>
            <p:cNvPr id="5" name="object 6">
              <a:extLst>
                <a:ext uri="{FF2B5EF4-FFF2-40B4-BE49-F238E27FC236}">
                  <a16:creationId xmlns:a16="http://schemas.microsoft.com/office/drawing/2014/main" id="{3DC6AA2A-B1F0-A6B5-C9BE-F9AB57C2A3B8}"/>
                </a:ext>
              </a:extLst>
            </p:cNvPr>
            <p:cNvSpPr/>
            <p:nvPr/>
          </p:nvSpPr>
          <p:spPr>
            <a:xfrm>
              <a:off x="2802635" y="3552444"/>
              <a:ext cx="3409188" cy="1514855"/>
            </a:xfrm>
            <a:prstGeom prst="rect">
              <a:avLst/>
            </a:prstGeom>
            <a:blipFill>
              <a:blip r:embed="rId3" cstate="print"/>
              <a:stretch>
                <a:fillRect/>
              </a:stretch>
            </a:blipFill>
          </p:spPr>
          <p:txBody>
            <a:bodyPr wrap="square" lIns="0" tIns="0" rIns="0" bIns="0" rtlCol="0"/>
            <a:lstStyle/>
            <a:p>
              <a:endParaRPr/>
            </a:p>
          </p:txBody>
        </p:sp>
        <p:sp>
          <p:nvSpPr>
            <p:cNvPr id="6" name="object 7">
              <a:extLst>
                <a:ext uri="{FF2B5EF4-FFF2-40B4-BE49-F238E27FC236}">
                  <a16:creationId xmlns:a16="http://schemas.microsoft.com/office/drawing/2014/main" id="{3CD6EEFC-E963-0D05-D91C-FFCF38791176}"/>
                </a:ext>
              </a:extLst>
            </p:cNvPr>
            <p:cNvSpPr/>
            <p:nvPr/>
          </p:nvSpPr>
          <p:spPr>
            <a:xfrm>
              <a:off x="6211823" y="3552444"/>
              <a:ext cx="4096512" cy="1562099"/>
            </a:xfrm>
            <a:prstGeom prst="rect">
              <a:avLst/>
            </a:prstGeom>
            <a:blipFill>
              <a:blip r:embed="rId4" cstate="print"/>
              <a:stretch>
                <a:fillRect/>
              </a:stretch>
            </a:blipFill>
          </p:spPr>
          <p:txBody>
            <a:bodyPr wrap="square" lIns="0" tIns="0" rIns="0" bIns="0" rtlCol="0"/>
            <a:lstStyle/>
            <a:p>
              <a:endParaRPr/>
            </a:p>
          </p:txBody>
        </p:sp>
      </p:grpSp>
      <p:sp>
        <p:nvSpPr>
          <p:cNvPr id="7" name="object 3">
            <a:extLst>
              <a:ext uri="{FF2B5EF4-FFF2-40B4-BE49-F238E27FC236}">
                <a16:creationId xmlns:a16="http://schemas.microsoft.com/office/drawing/2014/main" id="{56B5E5CE-D85C-A9FB-07F9-AC97F5ADF1AF}"/>
              </a:ext>
            </a:extLst>
          </p:cNvPr>
          <p:cNvSpPr txBox="1"/>
          <p:nvPr/>
        </p:nvSpPr>
        <p:spPr>
          <a:xfrm>
            <a:off x="1084275" y="5141214"/>
            <a:ext cx="9933940" cy="998350"/>
          </a:xfrm>
          <a:prstGeom prst="rect">
            <a:avLst/>
          </a:prstGeom>
        </p:spPr>
        <p:txBody>
          <a:bodyPr vert="horz" wrap="square" lIns="0" tIns="74295" rIns="0" bIns="0" rtlCol="0">
            <a:spAutoFit/>
          </a:bodyPr>
          <a:lstStyle/>
          <a:p>
            <a:r>
              <a:rPr lang="en-US" sz="1200" dirty="0">
                <a:solidFill>
                  <a:schemeClr val="accent1">
                    <a:lumMod val="75000"/>
                  </a:schemeClr>
                </a:solidFill>
                <a:latin typeface="+mj-lt"/>
                <a:ea typeface="+mj-ea"/>
                <a:cs typeface="+mj-cs"/>
              </a:rPr>
              <a:t>Geographic positioning heavily prioritizes public safety and risk minimization during flight:</a:t>
            </a:r>
          </a:p>
          <a:p>
            <a:r>
              <a:rPr lang="en-US" sz="1200" dirty="0">
                <a:solidFill>
                  <a:schemeClr val="accent1">
                    <a:lumMod val="75000"/>
                  </a:schemeClr>
                </a:solidFill>
                <a:latin typeface="+mj-lt"/>
                <a:ea typeface="+mj-ea"/>
                <a:cs typeface="+mj-cs"/>
              </a:rPr>
              <a:t>Coastal Proximity: Sites are intentionally situated adjacent to coastlines. In the event of a launch failure, the rocket can be safely ditched or crash-land into the sea.</a:t>
            </a:r>
          </a:p>
          <a:p>
            <a:r>
              <a:rPr lang="en-US" sz="1200" dirty="0">
                <a:solidFill>
                  <a:schemeClr val="accent1">
                    <a:lumMod val="75000"/>
                  </a:schemeClr>
                </a:solidFill>
                <a:latin typeface="+mj-lt"/>
                <a:ea typeface="+mj-ea"/>
                <a:cs typeface="+mj-cs"/>
              </a:rPr>
              <a:t>Urban Distance: Launch complexes are built relatively far from major cities to eliminate the hazard of debris or failing hardware plunging into densely populated areas.</a:t>
            </a:r>
          </a:p>
        </p:txBody>
      </p:sp>
    </p:spTree>
    <p:extLst>
      <p:ext uri="{BB962C8B-B14F-4D97-AF65-F5344CB8AC3E}">
        <p14:creationId xmlns:p14="http://schemas.microsoft.com/office/powerpoint/2010/main" val="2129915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CF4BC-6878-EBF5-36CE-631146BAD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4DCE0-28B7-5F43-3C16-2C1762D82801}"/>
              </a:ext>
            </a:extLst>
          </p:cNvPr>
          <p:cNvSpPr>
            <a:spLocks noGrp="1"/>
          </p:cNvSpPr>
          <p:nvPr>
            <p:ph type="title"/>
          </p:nvPr>
        </p:nvSpPr>
        <p:spPr/>
        <p:txBody>
          <a:bodyPr/>
          <a:lstStyle/>
          <a:p>
            <a:r>
              <a:rPr lang="en-US" dirty="0"/>
              <a:t>Build a Dashboard with Plotly Dash</a:t>
            </a:r>
          </a:p>
        </p:txBody>
      </p:sp>
      <p:sp>
        <p:nvSpPr>
          <p:cNvPr id="4" name="TextBox 3">
            <a:extLst>
              <a:ext uri="{FF2B5EF4-FFF2-40B4-BE49-F238E27FC236}">
                <a16:creationId xmlns:a16="http://schemas.microsoft.com/office/drawing/2014/main" id="{879A4DAF-3ECA-AABD-AD18-64BD0C6C1C10}"/>
              </a:ext>
            </a:extLst>
          </p:cNvPr>
          <p:cNvSpPr txBox="1"/>
          <p:nvPr/>
        </p:nvSpPr>
        <p:spPr>
          <a:xfrm>
            <a:off x="1295400" y="1901827"/>
            <a:ext cx="7860030" cy="3046988"/>
          </a:xfrm>
          <a:prstGeom prst="rect">
            <a:avLst/>
          </a:prstGeom>
          <a:noFill/>
        </p:spPr>
        <p:txBody>
          <a:bodyPr wrap="square">
            <a:spAutoFit/>
          </a:bodyPr>
          <a:lstStyle/>
          <a:p>
            <a:r>
              <a:rPr lang="en-US" sz="1600" dirty="0">
                <a:solidFill>
                  <a:schemeClr val="accent1">
                    <a:lumMod val="75000"/>
                  </a:schemeClr>
                </a:solidFill>
                <a:latin typeface="+mj-lt"/>
                <a:ea typeface="+mj-ea"/>
                <a:cs typeface="+mj-cs"/>
              </a:rPr>
              <a:t>Dashboard Setup: Composed of two interactive visuals—a pie chart and a scatter plot.</a:t>
            </a:r>
          </a:p>
          <a:p>
            <a:endParaRPr lang="en-US" sz="1600" dirty="0">
              <a:solidFill>
                <a:schemeClr val="accent1">
                  <a:lumMod val="75000"/>
                </a:schemeClr>
              </a:solidFill>
              <a:latin typeface="+mj-lt"/>
              <a:ea typeface="+mj-ea"/>
              <a:cs typeface="+mj-cs"/>
            </a:endParaRPr>
          </a:p>
          <a:p>
            <a:r>
              <a:rPr lang="en-US" sz="1600" dirty="0">
                <a:solidFill>
                  <a:schemeClr val="accent1">
                    <a:lumMod val="75000"/>
                  </a:schemeClr>
                </a:solidFill>
                <a:latin typeface="+mj-lt"/>
                <a:ea typeface="+mj-ea"/>
                <a:cs typeface="+mj-cs"/>
              </a:rPr>
              <a:t>Pie Chart Logic: Tracks launch site success rates; can toggle between total global success distribution and a single site's win/loss ratio.</a:t>
            </a:r>
          </a:p>
          <a:p>
            <a:endParaRPr lang="en-US" sz="1600" dirty="0">
              <a:solidFill>
                <a:schemeClr val="accent1">
                  <a:lumMod val="75000"/>
                </a:schemeClr>
              </a:solidFill>
              <a:latin typeface="+mj-lt"/>
              <a:ea typeface="+mj-ea"/>
              <a:cs typeface="+mj-cs"/>
            </a:endParaRPr>
          </a:p>
          <a:p>
            <a:r>
              <a:rPr lang="en-US" sz="1600" dirty="0">
                <a:solidFill>
                  <a:schemeClr val="accent1">
                    <a:lumMod val="75000"/>
                  </a:schemeClr>
                </a:solidFill>
                <a:latin typeface="+mj-lt"/>
                <a:ea typeface="+mj-ea"/>
                <a:cs typeface="+mj-cs"/>
              </a:rPr>
              <a:t>Scatter Plot Controls: Interactive dropdown filters by launch location, paired with a payload weight slider ranging from 0 to 10,000 kg.</a:t>
            </a:r>
          </a:p>
          <a:p>
            <a:endParaRPr lang="en-US" sz="1600" dirty="0">
              <a:solidFill>
                <a:schemeClr val="accent1">
                  <a:lumMod val="75000"/>
                </a:schemeClr>
              </a:solidFill>
              <a:latin typeface="+mj-lt"/>
              <a:ea typeface="+mj-ea"/>
              <a:cs typeface="+mj-cs"/>
            </a:endParaRPr>
          </a:p>
          <a:p>
            <a:r>
              <a:rPr lang="en-US" sz="1600" dirty="0">
                <a:solidFill>
                  <a:schemeClr val="accent1">
                    <a:lumMod val="75000"/>
                  </a:schemeClr>
                </a:solidFill>
                <a:latin typeface="+mj-lt"/>
                <a:ea typeface="+mj-ea"/>
                <a:cs typeface="+mj-cs"/>
              </a:rPr>
              <a:t>Key Takeaway: The combination allows users to instantly see how launch site location, payload weight, and different booster variants impact mission success.</a:t>
            </a:r>
          </a:p>
          <a:p>
            <a:pPr marL="285750" indent="-285750">
              <a:buFont typeface="Arial" panose="020B0604020202020204" pitchFamily="34" charset="0"/>
              <a:buChar char="•"/>
            </a:pPr>
            <a:endParaRPr lang="en-US" sz="1600" dirty="0">
              <a:solidFill>
                <a:schemeClr val="accent1">
                  <a:lumMod val="75000"/>
                </a:schemeClr>
              </a:solidFill>
              <a:latin typeface="+mj-lt"/>
              <a:ea typeface="+mj-ea"/>
              <a:cs typeface="+mj-cs"/>
            </a:endParaRPr>
          </a:p>
        </p:txBody>
      </p:sp>
    </p:spTree>
    <p:extLst>
      <p:ext uri="{BB962C8B-B14F-4D97-AF65-F5344CB8AC3E}">
        <p14:creationId xmlns:p14="http://schemas.microsoft.com/office/powerpoint/2010/main" val="175089150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291F9-16D2-6CB6-8DF8-A0C66501F98C}"/>
              </a:ext>
            </a:extLst>
          </p:cNvPr>
          <p:cNvSpPr>
            <a:spLocks noGrp="1"/>
          </p:cNvSpPr>
          <p:nvPr>
            <p:ph type="title"/>
          </p:nvPr>
        </p:nvSpPr>
        <p:spPr>
          <a:xfrm>
            <a:off x="1229146" y="439845"/>
            <a:ext cx="9601200" cy="1142385"/>
          </a:xfrm>
        </p:spPr>
        <p:txBody>
          <a:bodyPr/>
          <a:lstStyle/>
          <a:p>
            <a:r>
              <a:rPr lang="en-US" dirty="0"/>
              <a:t>Results of Plotly Dashboard</a:t>
            </a:r>
          </a:p>
        </p:txBody>
      </p:sp>
      <p:pic>
        <p:nvPicPr>
          <p:cNvPr id="3" name="Picture 2">
            <a:extLst>
              <a:ext uri="{FF2B5EF4-FFF2-40B4-BE49-F238E27FC236}">
                <a16:creationId xmlns:a16="http://schemas.microsoft.com/office/drawing/2014/main" id="{B67F9DD4-4A95-0D56-371A-D656E0A2B8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29146" y="1890583"/>
            <a:ext cx="8470232" cy="3789765"/>
          </a:xfrm>
          <a:prstGeom prst="rect">
            <a:avLst/>
          </a:prstGeom>
        </p:spPr>
      </p:pic>
    </p:spTree>
    <p:extLst>
      <p:ext uri="{BB962C8B-B14F-4D97-AF65-F5344CB8AC3E}">
        <p14:creationId xmlns:p14="http://schemas.microsoft.com/office/powerpoint/2010/main" val="50980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50C26-89F4-1EA7-4564-D279F9F421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00467-7A9A-30D9-F98F-6403CBD36FA3}"/>
              </a:ext>
            </a:extLst>
          </p:cNvPr>
          <p:cNvSpPr>
            <a:spLocks noGrp="1"/>
          </p:cNvSpPr>
          <p:nvPr>
            <p:ph type="title"/>
          </p:nvPr>
        </p:nvSpPr>
        <p:spPr>
          <a:xfrm>
            <a:off x="7909560" y="576072"/>
            <a:ext cx="3657600" cy="2194560"/>
          </a:xfrm>
        </p:spPr>
        <p:txBody>
          <a:bodyPr anchor="b">
            <a:normAutofit/>
          </a:bodyPr>
          <a:lstStyle/>
          <a:p>
            <a:r>
              <a:rPr lang="en-US" dirty="0"/>
              <a:t>Predictive Analysis </a:t>
            </a:r>
          </a:p>
        </p:txBody>
      </p:sp>
      <p:pic>
        <p:nvPicPr>
          <p:cNvPr id="5" name="Picture 4">
            <a:extLst>
              <a:ext uri="{FF2B5EF4-FFF2-40B4-BE49-F238E27FC236}">
                <a16:creationId xmlns:a16="http://schemas.microsoft.com/office/drawing/2014/main" id="{E411E993-3A08-46BD-A165-DBEF3986667D}"/>
              </a:ext>
            </a:extLst>
          </p:cNvPr>
          <p:cNvPicPr>
            <a:picLocks noChangeAspect="1"/>
          </p:cNvPicPr>
          <p:nvPr/>
        </p:nvPicPr>
        <p:blipFill>
          <a:blip r:embed="rId2"/>
          <a:stretch>
            <a:fillRect/>
          </a:stretch>
        </p:blipFill>
        <p:spPr>
          <a:xfrm>
            <a:off x="4412" y="1472025"/>
            <a:ext cx="7315200" cy="3913632"/>
          </a:xfrm>
          <a:prstGeom prst="rect">
            <a:avLst/>
          </a:prstGeom>
          <a:noFill/>
        </p:spPr>
      </p:pic>
    </p:spTree>
    <p:extLst>
      <p:ext uri="{BB962C8B-B14F-4D97-AF65-F5344CB8AC3E}">
        <p14:creationId xmlns:p14="http://schemas.microsoft.com/office/powerpoint/2010/main" val="29954973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3E932-65E9-5ADA-91FA-D664E6465C85}"/>
              </a:ext>
            </a:extLst>
          </p:cNvPr>
          <p:cNvSpPr>
            <a:spLocks noGrp="1"/>
          </p:cNvSpPr>
          <p:nvPr>
            <p:ph type="title"/>
          </p:nvPr>
        </p:nvSpPr>
        <p:spPr/>
        <p:txBody>
          <a:bodyPr/>
          <a:lstStyle/>
          <a:p>
            <a:r>
              <a:rPr lang="en-US" dirty="0"/>
              <a:t>Accuracy Calculation using method score:</a:t>
            </a:r>
          </a:p>
        </p:txBody>
      </p:sp>
      <p:pic>
        <p:nvPicPr>
          <p:cNvPr id="4" name="Picture 3">
            <a:extLst>
              <a:ext uri="{FF2B5EF4-FFF2-40B4-BE49-F238E27FC236}">
                <a16:creationId xmlns:a16="http://schemas.microsoft.com/office/drawing/2014/main" id="{FBEBEC7C-1D2D-AA79-40A3-DE21DC8CF87C}"/>
              </a:ext>
            </a:extLst>
          </p:cNvPr>
          <p:cNvPicPr>
            <a:picLocks noChangeAspect="1"/>
          </p:cNvPicPr>
          <p:nvPr/>
        </p:nvPicPr>
        <p:blipFill>
          <a:blip r:embed="rId2"/>
          <a:stretch>
            <a:fillRect/>
          </a:stretch>
        </p:blipFill>
        <p:spPr>
          <a:xfrm>
            <a:off x="1734378" y="1714431"/>
            <a:ext cx="5917705" cy="3040449"/>
          </a:xfrm>
          <a:prstGeom prst="rect">
            <a:avLst/>
          </a:prstGeom>
        </p:spPr>
      </p:pic>
      <p:sp>
        <p:nvSpPr>
          <p:cNvPr id="6" name="TextBox 5">
            <a:extLst>
              <a:ext uri="{FF2B5EF4-FFF2-40B4-BE49-F238E27FC236}">
                <a16:creationId xmlns:a16="http://schemas.microsoft.com/office/drawing/2014/main" id="{96496BFB-9786-BFDB-AE70-3172A6F01821}"/>
              </a:ext>
            </a:extLst>
          </p:cNvPr>
          <p:cNvSpPr txBox="1"/>
          <p:nvPr/>
        </p:nvSpPr>
        <p:spPr>
          <a:xfrm>
            <a:off x="1734378" y="4996237"/>
            <a:ext cx="6107228" cy="584775"/>
          </a:xfrm>
          <a:prstGeom prst="rect">
            <a:avLst/>
          </a:prstGeom>
          <a:noFill/>
        </p:spPr>
        <p:txBody>
          <a:bodyPr wrap="square">
            <a:spAutoFit/>
          </a:bodyPr>
          <a:lstStyle/>
          <a:p>
            <a:r>
              <a:rPr lang="en-US" sz="1600" dirty="0">
                <a:solidFill>
                  <a:schemeClr val="accent1">
                    <a:lumMod val="75000"/>
                  </a:schemeClr>
                </a:solidFill>
                <a:latin typeface="+mj-lt"/>
                <a:ea typeface="+mj-ea"/>
                <a:cs typeface="+mj-cs"/>
              </a:rPr>
              <a:t>All models had virtually the same accuracy on the test set at 83.33% accuracy. </a:t>
            </a:r>
          </a:p>
        </p:txBody>
      </p:sp>
    </p:spTree>
    <p:extLst>
      <p:ext uri="{BB962C8B-B14F-4D97-AF65-F5344CB8AC3E}">
        <p14:creationId xmlns:p14="http://schemas.microsoft.com/office/powerpoint/2010/main" val="150586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47577-7F8F-5E94-07FD-395A894D5B50}"/>
              </a:ext>
            </a:extLst>
          </p:cNvPr>
          <p:cNvSpPr>
            <a:spLocks noGrp="1"/>
          </p:cNvSpPr>
          <p:nvPr>
            <p:ph type="title"/>
          </p:nvPr>
        </p:nvSpPr>
        <p:spPr/>
        <p:txBody>
          <a:bodyPr/>
          <a:lstStyle/>
          <a:p>
            <a:r>
              <a:rPr lang="en-US" dirty="0"/>
              <a:t>Confusion Matrix</a:t>
            </a:r>
          </a:p>
        </p:txBody>
      </p:sp>
      <p:pic>
        <p:nvPicPr>
          <p:cNvPr id="4" name="Picture 3">
            <a:extLst>
              <a:ext uri="{FF2B5EF4-FFF2-40B4-BE49-F238E27FC236}">
                <a16:creationId xmlns:a16="http://schemas.microsoft.com/office/drawing/2014/main" id="{2C6E608F-F055-2BD8-BF70-45976F7D7967}"/>
              </a:ext>
            </a:extLst>
          </p:cNvPr>
          <p:cNvPicPr>
            <a:picLocks noChangeAspect="1"/>
          </p:cNvPicPr>
          <p:nvPr/>
        </p:nvPicPr>
        <p:blipFill>
          <a:blip r:embed="rId2"/>
          <a:stretch>
            <a:fillRect/>
          </a:stretch>
        </p:blipFill>
        <p:spPr>
          <a:xfrm>
            <a:off x="1405287" y="1805706"/>
            <a:ext cx="5900287" cy="4238959"/>
          </a:xfrm>
          <a:prstGeom prst="rect">
            <a:avLst/>
          </a:prstGeom>
        </p:spPr>
      </p:pic>
      <p:sp>
        <p:nvSpPr>
          <p:cNvPr id="5" name="object 6">
            <a:extLst>
              <a:ext uri="{FF2B5EF4-FFF2-40B4-BE49-F238E27FC236}">
                <a16:creationId xmlns:a16="http://schemas.microsoft.com/office/drawing/2014/main" id="{590F52FB-4D2E-B414-7FEF-5EF6CAEB0D41}"/>
              </a:ext>
            </a:extLst>
          </p:cNvPr>
          <p:cNvSpPr txBox="1"/>
          <p:nvPr/>
        </p:nvSpPr>
        <p:spPr>
          <a:xfrm>
            <a:off x="7531734" y="1805706"/>
            <a:ext cx="4181730" cy="2721258"/>
          </a:xfrm>
          <a:prstGeom prst="rect">
            <a:avLst/>
          </a:prstGeom>
        </p:spPr>
        <p:txBody>
          <a:bodyPr vert="horz" wrap="square" lIns="0" tIns="12700" rIns="0" bIns="0" rtlCol="0">
            <a:spAutoFit/>
          </a:bodyPr>
          <a:lstStyle/>
          <a:p>
            <a:r>
              <a:rPr lang="en-US" sz="1600" dirty="0">
                <a:solidFill>
                  <a:schemeClr val="accent1">
                    <a:lumMod val="75000"/>
                  </a:schemeClr>
                </a:solidFill>
                <a:latin typeface="+mj-lt"/>
                <a:ea typeface="+mj-ea"/>
                <a:cs typeface="+mj-cs"/>
              </a:rPr>
              <a:t>Model Uniformity: All models scored the exact same on the test set, meaning their confusion matrices are identical.</a:t>
            </a:r>
          </a:p>
          <a:p>
            <a:r>
              <a:rPr lang="en-US" sz="1600" dirty="0">
                <a:solidFill>
                  <a:schemeClr val="accent1">
                    <a:lumMod val="75000"/>
                  </a:schemeClr>
                </a:solidFill>
                <a:latin typeface="+mj-lt"/>
                <a:ea typeface="+mj-ea"/>
                <a:cs typeface="+mj-cs"/>
              </a:rPr>
              <a:t>The Wins: 12 successful landings and 3 unsuccessful landings were correctly predicted.</a:t>
            </a:r>
          </a:p>
          <a:p>
            <a:r>
              <a:rPr lang="en-US" sz="1600" dirty="0">
                <a:solidFill>
                  <a:schemeClr val="accent1">
                    <a:lumMod val="75000"/>
                  </a:schemeClr>
                </a:solidFill>
                <a:latin typeface="+mj-lt"/>
                <a:ea typeface="+mj-ea"/>
                <a:cs typeface="+mj-cs"/>
              </a:rPr>
              <a:t>The Flaw: 3 unsuccessful landings were wrongly predicted as successes.</a:t>
            </a:r>
          </a:p>
          <a:p>
            <a:r>
              <a:rPr lang="en-US" sz="1600" dirty="0">
                <a:solidFill>
                  <a:schemeClr val="accent1">
                    <a:lumMod val="75000"/>
                  </a:schemeClr>
                </a:solidFill>
                <a:latin typeface="+mj-lt"/>
                <a:ea typeface="+mj-ea"/>
                <a:cs typeface="+mj-cs"/>
              </a:rPr>
              <a:t>Takeaway: The pipeline has a noticeable bias toward over-predicting successful landings (false positives).</a:t>
            </a:r>
          </a:p>
        </p:txBody>
      </p:sp>
    </p:spTree>
    <p:extLst>
      <p:ext uri="{BB962C8B-B14F-4D97-AF65-F5344CB8AC3E}">
        <p14:creationId xmlns:p14="http://schemas.microsoft.com/office/powerpoint/2010/main" val="2915806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D3F7C-7284-B7E7-758F-934BBB664E1F}"/>
              </a:ext>
            </a:extLst>
          </p:cNvPr>
          <p:cNvSpPr>
            <a:spLocks noGrp="1"/>
          </p:cNvSpPr>
          <p:nvPr>
            <p:ph type="title"/>
          </p:nvPr>
        </p:nvSpPr>
        <p:spPr/>
        <p:txBody>
          <a:bodyPr/>
          <a:lstStyle/>
          <a:p>
            <a:r>
              <a:rPr lang="en-US" dirty="0"/>
              <a:t>Conclusion</a:t>
            </a:r>
          </a:p>
        </p:txBody>
      </p:sp>
      <p:sp>
        <p:nvSpPr>
          <p:cNvPr id="4" name="TextBox 3">
            <a:extLst>
              <a:ext uri="{FF2B5EF4-FFF2-40B4-BE49-F238E27FC236}">
                <a16:creationId xmlns:a16="http://schemas.microsoft.com/office/drawing/2014/main" id="{5B984E0A-14C3-9B34-775D-297823C58D18}"/>
              </a:ext>
            </a:extLst>
          </p:cNvPr>
          <p:cNvSpPr txBox="1"/>
          <p:nvPr/>
        </p:nvSpPr>
        <p:spPr>
          <a:xfrm>
            <a:off x="1295400" y="1742361"/>
            <a:ext cx="8177784" cy="3293209"/>
          </a:xfrm>
          <a:prstGeom prst="rect">
            <a:avLst/>
          </a:prstGeom>
          <a:noFill/>
        </p:spPr>
        <p:txBody>
          <a:bodyPr wrap="square">
            <a:spAutoFit/>
          </a:bodyPr>
          <a:lstStyle/>
          <a:p>
            <a:pPr>
              <a:buNone/>
            </a:pPr>
            <a:r>
              <a:rPr lang="en-US" sz="1600" dirty="0">
                <a:solidFill>
                  <a:schemeClr val="accent1">
                    <a:lumMod val="75000"/>
                  </a:schemeClr>
                </a:solidFill>
                <a:latin typeface="+mj-lt"/>
                <a:ea typeface="+mj-ea"/>
                <a:cs typeface="+mj-cs"/>
              </a:rPr>
              <a:t>The Mission: Build a model for Space Y to compete with SpaceX by protecting a $100M cost variable (Stage 1 rocket reuse).</a:t>
            </a:r>
          </a:p>
          <a:p>
            <a:pPr>
              <a:buNone/>
            </a:pPr>
            <a:endParaRPr lang="en-US" sz="1600" dirty="0">
              <a:solidFill>
                <a:schemeClr val="accent1">
                  <a:lumMod val="75000"/>
                </a:schemeClr>
              </a:solidFill>
              <a:latin typeface="+mj-lt"/>
              <a:ea typeface="+mj-ea"/>
              <a:cs typeface="+mj-cs"/>
            </a:endParaRPr>
          </a:p>
          <a:p>
            <a:pPr>
              <a:buNone/>
            </a:pPr>
            <a:r>
              <a:rPr lang="en-US" sz="1600" dirty="0">
                <a:solidFill>
                  <a:schemeClr val="accent1">
                    <a:lumMod val="75000"/>
                  </a:schemeClr>
                </a:solidFill>
                <a:latin typeface="+mj-lt"/>
                <a:ea typeface="+mj-ea"/>
                <a:cs typeface="+mj-cs"/>
              </a:rPr>
              <a:t>The Pipeline: Sourced data from public APIs and Wikipedia, cleaned it in a DB2 database, and built an interactive front-end dashboard.</a:t>
            </a:r>
          </a:p>
          <a:p>
            <a:pPr>
              <a:buNone/>
            </a:pPr>
            <a:endParaRPr lang="en-US" sz="1600" dirty="0">
              <a:solidFill>
                <a:schemeClr val="accent1">
                  <a:lumMod val="75000"/>
                </a:schemeClr>
              </a:solidFill>
              <a:latin typeface="+mj-lt"/>
              <a:ea typeface="+mj-ea"/>
              <a:cs typeface="+mj-cs"/>
            </a:endParaRPr>
          </a:p>
          <a:p>
            <a:pPr>
              <a:buNone/>
            </a:pPr>
            <a:r>
              <a:rPr lang="en-US" sz="1600" dirty="0">
                <a:solidFill>
                  <a:schemeClr val="accent1">
                    <a:lumMod val="75000"/>
                  </a:schemeClr>
                </a:solidFill>
                <a:latin typeface="+mj-lt"/>
                <a:ea typeface="+mj-ea"/>
                <a:cs typeface="+mj-cs"/>
              </a:rPr>
              <a:t>The Result: Delivered a machine learning model with an 83% accuracy rate.</a:t>
            </a:r>
          </a:p>
          <a:p>
            <a:pPr>
              <a:buNone/>
            </a:pPr>
            <a:endParaRPr lang="en-US" sz="1600" dirty="0">
              <a:solidFill>
                <a:schemeClr val="accent1">
                  <a:lumMod val="75000"/>
                </a:schemeClr>
              </a:solidFill>
              <a:latin typeface="+mj-lt"/>
              <a:ea typeface="+mj-ea"/>
              <a:cs typeface="+mj-cs"/>
            </a:endParaRPr>
          </a:p>
          <a:p>
            <a:pPr>
              <a:buNone/>
            </a:pPr>
            <a:r>
              <a:rPr lang="en-US" sz="1600" dirty="0">
                <a:solidFill>
                  <a:schemeClr val="accent1">
                    <a:lumMod val="75000"/>
                  </a:schemeClr>
                </a:solidFill>
                <a:latin typeface="+mj-lt"/>
                <a:ea typeface="+mj-ea"/>
                <a:cs typeface="+mj-cs"/>
              </a:rPr>
              <a:t>The Bottom Line: Space Y leadership can now systematically predict booster landing success before launch to optimize resource management.</a:t>
            </a:r>
          </a:p>
          <a:p>
            <a:pPr>
              <a:buNone/>
            </a:pPr>
            <a:endParaRPr lang="en-US" sz="1600" dirty="0">
              <a:solidFill>
                <a:schemeClr val="accent1">
                  <a:lumMod val="75000"/>
                </a:schemeClr>
              </a:solidFill>
              <a:latin typeface="+mj-lt"/>
              <a:ea typeface="+mj-ea"/>
              <a:cs typeface="+mj-cs"/>
            </a:endParaRPr>
          </a:p>
          <a:p>
            <a:pPr>
              <a:buNone/>
            </a:pPr>
            <a:r>
              <a:rPr lang="en-US" sz="1600" dirty="0">
                <a:solidFill>
                  <a:schemeClr val="accent1">
                    <a:lumMod val="75000"/>
                  </a:schemeClr>
                </a:solidFill>
                <a:latin typeface="+mj-lt"/>
                <a:ea typeface="+mj-ea"/>
                <a:cs typeface="+mj-cs"/>
              </a:rPr>
              <a:t>Next Horizon: Gathering a larger volume of training data is recommended to scale accuracy higher.</a:t>
            </a:r>
          </a:p>
        </p:txBody>
      </p:sp>
    </p:spTree>
    <p:extLst>
      <p:ext uri="{BB962C8B-B14F-4D97-AF65-F5344CB8AC3E}">
        <p14:creationId xmlns:p14="http://schemas.microsoft.com/office/powerpoint/2010/main" val="1070175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B399F-5BB8-5199-745D-ADC7CD18DA17}"/>
              </a:ext>
            </a:extLst>
          </p:cNvPr>
          <p:cNvSpPr>
            <a:spLocks noGrp="1"/>
          </p:cNvSpPr>
          <p:nvPr>
            <p:ph type="title"/>
          </p:nvPr>
        </p:nvSpPr>
        <p:spPr/>
        <p:txBody>
          <a:bodyPr/>
          <a:lstStyle/>
          <a:p>
            <a:r>
              <a:rPr lang="en-US" dirty="0"/>
              <a:t>Appendix</a:t>
            </a:r>
          </a:p>
        </p:txBody>
      </p:sp>
      <p:sp>
        <p:nvSpPr>
          <p:cNvPr id="3" name="object 4">
            <a:extLst>
              <a:ext uri="{FF2B5EF4-FFF2-40B4-BE49-F238E27FC236}">
                <a16:creationId xmlns:a16="http://schemas.microsoft.com/office/drawing/2014/main" id="{9DA00562-3F37-BC00-3B48-A38F2FC0EC6E}"/>
              </a:ext>
            </a:extLst>
          </p:cNvPr>
          <p:cNvSpPr txBox="1"/>
          <p:nvPr/>
        </p:nvSpPr>
        <p:spPr>
          <a:xfrm>
            <a:off x="1194307" y="1734645"/>
            <a:ext cx="8401050" cy="2466701"/>
          </a:xfrm>
          <a:prstGeom prst="rect">
            <a:avLst/>
          </a:prstGeom>
        </p:spPr>
        <p:txBody>
          <a:bodyPr vert="horz" wrap="square" lIns="0" tIns="164465" rIns="0" bIns="0" rtlCol="0">
            <a:spAutoFit/>
          </a:bodyPr>
          <a:lstStyle/>
          <a:p>
            <a:pPr>
              <a:lnSpc>
                <a:spcPct val="100000"/>
              </a:lnSpc>
              <a:spcBef>
                <a:spcPts val="1295"/>
              </a:spcBef>
            </a:pPr>
            <a:r>
              <a:rPr sz="1600" dirty="0">
                <a:solidFill>
                  <a:schemeClr val="accent1">
                    <a:lumMod val="75000"/>
                  </a:schemeClr>
                </a:solidFill>
                <a:latin typeface="+mj-lt"/>
                <a:ea typeface="+mj-ea"/>
                <a:cs typeface="+mj-cs"/>
              </a:rPr>
              <a:t>GitHub repository url:</a:t>
            </a:r>
          </a:p>
          <a:p>
            <a:pPr>
              <a:spcBef>
                <a:spcPts val="40"/>
              </a:spcBef>
            </a:pPr>
            <a:r>
              <a:rPr lang="en-US" sz="1600" dirty="0">
                <a:solidFill>
                  <a:schemeClr val="accent1">
                    <a:lumMod val="75000"/>
                  </a:schemeClr>
                </a:solidFill>
                <a:latin typeface="+mj-lt"/>
                <a:ea typeface="+mj-ea"/>
                <a:cs typeface="+mj-cs"/>
                <a:hlinkClick r:id="rId2">
                  <a:extLst>
                    <a:ext uri="{A12FA001-AC4F-418D-AE19-62706E023703}">
                      <ahyp:hlinkClr xmlns:ahyp="http://schemas.microsoft.com/office/drawing/2018/hyperlinkcolor" val="tx"/>
                    </a:ext>
                  </a:extLst>
                </a:hlinkClick>
              </a:rPr>
              <a:t>https://github.com/shre6455/IBM_Data_Science_Professional_Certification</a:t>
            </a:r>
            <a:endParaRPr lang="en-US" sz="1600" dirty="0">
              <a:solidFill>
                <a:schemeClr val="accent1">
                  <a:lumMod val="75000"/>
                </a:schemeClr>
              </a:solidFill>
              <a:latin typeface="+mj-lt"/>
              <a:ea typeface="+mj-ea"/>
              <a:cs typeface="+mj-cs"/>
            </a:endParaRPr>
          </a:p>
          <a:p>
            <a:pPr>
              <a:lnSpc>
                <a:spcPct val="100000"/>
              </a:lnSpc>
              <a:spcBef>
                <a:spcPts val="40"/>
              </a:spcBef>
            </a:pPr>
            <a:endParaRPr sz="1600" dirty="0">
              <a:solidFill>
                <a:schemeClr val="accent1">
                  <a:lumMod val="75000"/>
                </a:schemeClr>
              </a:solidFill>
              <a:latin typeface="+mj-lt"/>
              <a:ea typeface="+mj-ea"/>
              <a:cs typeface="+mj-cs"/>
            </a:endParaRPr>
          </a:p>
          <a:p>
            <a:pPr>
              <a:lnSpc>
                <a:spcPct val="100000"/>
              </a:lnSpc>
              <a:spcBef>
                <a:spcPts val="5"/>
              </a:spcBef>
            </a:pPr>
            <a:r>
              <a:rPr sz="1600" dirty="0">
                <a:solidFill>
                  <a:schemeClr val="accent1">
                    <a:lumMod val="75000"/>
                  </a:schemeClr>
                </a:solidFill>
                <a:latin typeface="+mj-lt"/>
                <a:ea typeface="+mj-ea"/>
                <a:cs typeface="+mj-cs"/>
              </a:rPr>
              <a:t>Instructor</a:t>
            </a:r>
            <a:r>
              <a:rPr lang="en-IN" sz="1600" dirty="0">
                <a:solidFill>
                  <a:schemeClr val="accent1">
                    <a:lumMod val="75000"/>
                  </a:schemeClr>
                </a:solidFill>
                <a:latin typeface="+mj-lt"/>
                <a:ea typeface="+mj-ea"/>
                <a:cs typeface="+mj-cs"/>
              </a:rPr>
              <a:t>s</a:t>
            </a:r>
            <a:r>
              <a:rPr sz="1600" dirty="0">
                <a:solidFill>
                  <a:schemeClr val="accent1">
                    <a:lumMod val="75000"/>
                  </a:schemeClr>
                </a:solidFill>
                <a:latin typeface="+mj-lt"/>
                <a:ea typeface="+mj-ea"/>
                <a:cs typeface="+mj-cs"/>
              </a:rPr>
              <a:t>:</a:t>
            </a:r>
          </a:p>
          <a:p>
            <a:r>
              <a:rPr lang="en-IN" sz="1600" dirty="0">
                <a:solidFill>
                  <a:schemeClr val="accent1">
                    <a:lumMod val="75000"/>
                  </a:schemeClr>
                </a:solidFill>
                <a:latin typeface="+mj-lt"/>
                <a:ea typeface="+mj-ea"/>
                <a:cs typeface="+mj-cs"/>
              </a:rPr>
              <a:t>Instructors: Rav Ahuja, Alex </a:t>
            </a:r>
            <a:r>
              <a:rPr lang="en-IN" sz="1600" dirty="0" err="1">
                <a:solidFill>
                  <a:schemeClr val="accent1">
                    <a:lumMod val="75000"/>
                  </a:schemeClr>
                </a:solidFill>
                <a:latin typeface="+mj-lt"/>
                <a:ea typeface="+mj-ea"/>
                <a:cs typeface="+mj-cs"/>
              </a:rPr>
              <a:t>Aklson</a:t>
            </a:r>
            <a:r>
              <a:rPr lang="en-IN" sz="1600" dirty="0">
                <a:solidFill>
                  <a:schemeClr val="accent1">
                    <a:lumMod val="75000"/>
                  </a:schemeClr>
                </a:solidFill>
                <a:latin typeface="+mj-lt"/>
                <a:ea typeface="+mj-ea"/>
                <a:cs typeface="+mj-cs"/>
              </a:rPr>
              <a:t>, </a:t>
            </a:r>
            <a:r>
              <a:rPr lang="en-IN" sz="1600" dirty="0" err="1">
                <a:solidFill>
                  <a:schemeClr val="accent1">
                    <a:lumMod val="75000"/>
                  </a:schemeClr>
                </a:solidFill>
                <a:latin typeface="+mj-lt"/>
                <a:ea typeface="+mj-ea"/>
                <a:cs typeface="+mj-cs"/>
              </a:rPr>
              <a:t>Aije</a:t>
            </a:r>
            <a:r>
              <a:rPr lang="en-IN" sz="1600" dirty="0">
                <a:solidFill>
                  <a:schemeClr val="accent1">
                    <a:lumMod val="75000"/>
                  </a:schemeClr>
                </a:solidFill>
                <a:latin typeface="+mj-lt"/>
                <a:ea typeface="+mj-ea"/>
                <a:cs typeface="+mj-cs"/>
              </a:rPr>
              <a:t> </a:t>
            </a:r>
            <a:r>
              <a:rPr lang="en-IN" sz="1600" dirty="0" err="1">
                <a:solidFill>
                  <a:schemeClr val="accent1">
                    <a:lumMod val="75000"/>
                  </a:schemeClr>
                </a:solidFill>
                <a:latin typeface="+mj-lt"/>
                <a:ea typeface="+mj-ea"/>
                <a:cs typeface="+mj-cs"/>
              </a:rPr>
              <a:t>Egwaikhide</a:t>
            </a:r>
            <a:r>
              <a:rPr lang="en-IN" sz="1600" dirty="0">
                <a:solidFill>
                  <a:schemeClr val="accent1">
                    <a:lumMod val="75000"/>
                  </a:schemeClr>
                </a:solidFill>
                <a:latin typeface="+mj-lt"/>
                <a:ea typeface="+mj-ea"/>
                <a:cs typeface="+mj-cs"/>
              </a:rPr>
              <a:t>, Svetlana Levitan, Romeo Kienzler, </a:t>
            </a:r>
            <a:r>
              <a:rPr lang="en-IN" sz="1600" dirty="0" err="1">
                <a:solidFill>
                  <a:schemeClr val="accent1">
                    <a:lumMod val="75000"/>
                  </a:schemeClr>
                </a:solidFill>
                <a:latin typeface="+mj-lt"/>
                <a:ea typeface="+mj-ea"/>
                <a:cs typeface="+mj-cs"/>
              </a:rPr>
              <a:t>Polong</a:t>
            </a:r>
            <a:r>
              <a:rPr lang="en-IN" sz="1600" dirty="0">
                <a:solidFill>
                  <a:schemeClr val="accent1">
                    <a:lumMod val="75000"/>
                  </a:schemeClr>
                </a:solidFill>
                <a:latin typeface="+mj-lt"/>
                <a:ea typeface="+mj-ea"/>
                <a:cs typeface="+mj-cs"/>
              </a:rPr>
              <a:t> Lin, Joseph Santarcangelo, Azim </a:t>
            </a:r>
            <a:r>
              <a:rPr lang="en-IN" sz="1600" dirty="0" err="1">
                <a:solidFill>
                  <a:schemeClr val="accent1">
                    <a:lumMod val="75000"/>
                  </a:schemeClr>
                </a:solidFill>
                <a:latin typeface="+mj-lt"/>
                <a:ea typeface="+mj-ea"/>
                <a:cs typeface="+mj-cs"/>
              </a:rPr>
              <a:t>Hirjani</a:t>
            </a:r>
            <a:r>
              <a:rPr lang="en-IN" sz="1600" dirty="0">
                <a:solidFill>
                  <a:schemeClr val="accent1">
                    <a:lumMod val="75000"/>
                  </a:schemeClr>
                </a:solidFill>
                <a:latin typeface="+mj-lt"/>
                <a:ea typeface="+mj-ea"/>
                <a:cs typeface="+mj-cs"/>
              </a:rPr>
              <a:t>, Hima Vasudevan, Saishruthi Swaminathan, Saeed </a:t>
            </a:r>
            <a:r>
              <a:rPr lang="en-IN" sz="1600" dirty="0" err="1">
                <a:solidFill>
                  <a:schemeClr val="accent1">
                    <a:lumMod val="75000"/>
                  </a:schemeClr>
                </a:solidFill>
                <a:latin typeface="+mj-lt"/>
                <a:ea typeface="+mj-ea"/>
                <a:cs typeface="+mj-cs"/>
              </a:rPr>
              <a:t>Aghabozorgi</a:t>
            </a:r>
            <a:r>
              <a:rPr lang="en-IN" sz="1600" dirty="0">
                <a:solidFill>
                  <a:schemeClr val="accent1">
                    <a:lumMod val="75000"/>
                  </a:schemeClr>
                </a:solidFill>
                <a:latin typeface="+mj-lt"/>
                <a:ea typeface="+mj-ea"/>
                <a:cs typeface="+mj-cs"/>
              </a:rPr>
              <a:t>, Yan Luo</a:t>
            </a:r>
          </a:p>
          <a:p>
            <a:pPr>
              <a:lnSpc>
                <a:spcPct val="100000"/>
              </a:lnSpc>
            </a:pPr>
            <a:endParaRPr sz="2000" dirty="0">
              <a:latin typeface="Carlito"/>
              <a:cs typeface="Carlito"/>
            </a:endParaRPr>
          </a:p>
          <a:p>
            <a:pPr>
              <a:lnSpc>
                <a:spcPct val="100000"/>
              </a:lnSpc>
              <a:spcBef>
                <a:spcPts val="40"/>
              </a:spcBef>
            </a:pPr>
            <a:endParaRPr sz="1750" dirty="0">
              <a:latin typeface="Carlito"/>
              <a:cs typeface="Carlito"/>
            </a:endParaRPr>
          </a:p>
        </p:txBody>
      </p:sp>
    </p:spTree>
    <p:extLst>
      <p:ext uri="{BB962C8B-B14F-4D97-AF65-F5344CB8AC3E}">
        <p14:creationId xmlns:p14="http://schemas.microsoft.com/office/powerpoint/2010/main" val="695140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iamond Grid 16x9">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usiness diamond grid presentation (widescreen).potx" id="{B2221865-AD13-4DF0-B68E-BF08E8CC5659}" vid="{BAA0C488-98B6-4F47-8E1C-5C7CD9605F73}"/>
    </a:ext>
  </a:extLst>
</a:theme>
</file>

<file path=ppt/theme/theme2.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Business diamond grid presentation (widescreen)</Template>
  <TotalTime>117</TotalTime>
  <Words>1807</Words>
  <Application>Microsoft Office PowerPoint</Application>
  <PresentationFormat>Widescreen</PresentationFormat>
  <Paragraphs>167</Paragraphs>
  <Slides>38</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Carlito</vt:lpstr>
      <vt:lpstr>Diamond Grid 16x9</vt:lpstr>
      <vt:lpstr>Data Science Capstone Project</vt:lpstr>
      <vt:lpstr>Content</vt:lpstr>
      <vt:lpstr>Executive Summary</vt:lpstr>
      <vt:lpstr>Introduction</vt:lpstr>
      <vt:lpstr>Methodology</vt:lpstr>
      <vt:lpstr>Data Collection Overview</vt:lpstr>
      <vt:lpstr>Data collection- SpaceX API</vt:lpstr>
      <vt:lpstr>Data Collection-Web Scraping</vt:lpstr>
      <vt:lpstr>Data Wrangling</vt:lpstr>
      <vt:lpstr>EDA with Data Visualization</vt:lpstr>
      <vt:lpstr>Flight Number VS Launch Site</vt:lpstr>
      <vt:lpstr>Payload  VS Launch Site</vt:lpstr>
      <vt:lpstr>Success Rate vs Orbit Type</vt:lpstr>
      <vt:lpstr>Flight Number  VS Orbit type </vt:lpstr>
      <vt:lpstr>Payload  VS Orbit type </vt:lpstr>
      <vt:lpstr>Launch Success Yearly Trend</vt:lpstr>
      <vt:lpstr>EDA with SQL</vt:lpstr>
      <vt:lpstr>All Launch Site Name</vt:lpstr>
      <vt:lpstr>Lauch Site Names Beginning with ‘CCA’</vt:lpstr>
      <vt:lpstr>Total Payload Mass from NASA</vt:lpstr>
      <vt:lpstr>Average Payload Mass by F9v1.1</vt:lpstr>
      <vt:lpstr>First Successful Ground Pad Landing Date</vt:lpstr>
      <vt:lpstr>Successful Drone Ship Landing with Payload Between 4000 and 6000</vt:lpstr>
      <vt:lpstr>Total Number of Each Mission Outcome</vt:lpstr>
      <vt:lpstr>Boosters that Carried Maximum Payload</vt:lpstr>
      <vt:lpstr>2015 Failed Drone Ship Landing Records</vt:lpstr>
      <vt:lpstr>Ranking Counts of Successful Landings between 2010-06-04 and 2017-03-20</vt:lpstr>
      <vt:lpstr>Build an interactive map with Folium</vt:lpstr>
      <vt:lpstr>Launch Site locations</vt:lpstr>
      <vt:lpstr>Color Coded Launch Markers</vt:lpstr>
      <vt:lpstr>Key Location Proximities </vt:lpstr>
      <vt:lpstr>Build a Dashboard with Plotly Dash</vt:lpstr>
      <vt:lpstr>Results of Plotly Dashboard</vt:lpstr>
      <vt:lpstr>Predictive Analysis </vt:lpstr>
      <vt:lpstr>Accuracy Calculation using method score:</vt:lpstr>
      <vt:lpstr>Confusion Matrix</vt:lpstr>
      <vt:lpstr>Conclusion</vt:lpstr>
      <vt:lpstr>Appendix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Sanjeet Shrestha</dc:creator>
  <cp:lastModifiedBy>Sanjeet Shrestha</cp:lastModifiedBy>
  <cp:revision>4</cp:revision>
  <dcterms:created xsi:type="dcterms:W3CDTF">2026-06-06T13:27:38Z</dcterms:created>
  <dcterms:modified xsi:type="dcterms:W3CDTF">2026-06-06T15:25:30Z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